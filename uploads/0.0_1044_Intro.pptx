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5" r:id="rId2"/>
    <p:sldId id="270" r:id="rId3"/>
    <p:sldId id="271" r:id="rId4"/>
    <p:sldId id="272" r:id="rId5"/>
    <p:sldId id="273" r:id="rId6"/>
    <p:sldId id="274" r:id="rId7"/>
    <p:sldId id="276" r:id="rId8"/>
    <p:sldId id="27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fr.wikipedia.org/wiki/Index_TIOBE?utm_source=chatgpt.com" TargetMode="External"/><Relationship Id="rId2" Type="http://schemas.openxmlformats.org/officeDocument/2006/relationships/hyperlink" Target="https://www.pluralsight.com/resources/blog/upskilling/top-programming-languages-2025?utm_source=chatgpt.com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FC279-0CF3-7C4E-6E84-DF39E903746C}"/>
              </a:ext>
            </a:extLst>
          </p:cNvPr>
          <p:cNvSpPr txBox="1"/>
          <p:nvPr/>
        </p:nvSpPr>
        <p:spPr>
          <a:xfrm>
            <a:off x="353785" y="1088571"/>
            <a:ext cx="8436429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000" b="1" dirty="0"/>
              <a:t>Python</a:t>
            </a:r>
            <a:r>
              <a:rPr lang="en-US" sz="2000" dirty="0"/>
              <a:t> – #1 in many popularity lists; huge in AI, data science, scripting, automation. (</a:t>
            </a:r>
            <a:r>
              <a:rPr lang="en-US" sz="2000" u="sng" dirty="0">
                <a:hlinkClick r:id="rId2" tooltip="Top 10 programming languages in 2025"/>
              </a:rPr>
              <a:t>Pluralsight</a:t>
            </a:r>
            <a:r>
              <a:rPr lang="en-US" sz="2000" dirty="0"/>
              <a:t>)</a:t>
            </a:r>
          </a:p>
          <a:p>
            <a:pPr lvl="0"/>
            <a:r>
              <a:rPr lang="en-US" sz="2000" b="1" dirty="0"/>
              <a:t>JavaScript</a:t>
            </a:r>
            <a:r>
              <a:rPr lang="en-US" sz="2000" dirty="0"/>
              <a:t> – Essential for web development; still one of the most used languages worldwide. (</a:t>
            </a:r>
            <a:r>
              <a:rPr lang="en-US" sz="2000" u="sng" dirty="0">
                <a:hlinkClick r:id="rId2" tooltip="Top 10 programming languages in 2025"/>
              </a:rPr>
              <a:t>Pluralsight</a:t>
            </a:r>
            <a:r>
              <a:rPr lang="en-US" sz="2000" dirty="0"/>
              <a:t>)</a:t>
            </a:r>
          </a:p>
          <a:p>
            <a:pPr lvl="0"/>
            <a:r>
              <a:rPr lang="en-US" sz="2000" b="1" dirty="0"/>
              <a:t>Java</a:t>
            </a:r>
            <a:r>
              <a:rPr lang="en-US" sz="2000" dirty="0"/>
              <a:t> – Classic enterprise and Android language; OOP foundation language (</a:t>
            </a:r>
          </a:p>
          <a:p>
            <a:pPr lvl="0"/>
            <a:r>
              <a:rPr lang="en-US" sz="2000" b="1" dirty="0"/>
              <a:t>C++</a:t>
            </a:r>
            <a:r>
              <a:rPr lang="en-US" sz="2000" dirty="0"/>
              <a:t> – Widely used in systems, games, performance-critical apps. (</a:t>
            </a:r>
            <a:r>
              <a:rPr lang="en-US" sz="2000" u="sng" dirty="0">
                <a:hlinkClick r:id="rId2" tooltip="Top 10 programming languages in 2025"/>
              </a:rPr>
              <a:t>Pluralsight</a:t>
            </a:r>
            <a:r>
              <a:rPr lang="en-US" sz="2000" dirty="0"/>
              <a:t>)</a:t>
            </a:r>
          </a:p>
          <a:p>
            <a:pPr lvl="0"/>
            <a:r>
              <a:rPr lang="en-US" sz="2000" b="1" dirty="0"/>
              <a:t>C#</a:t>
            </a:r>
            <a:r>
              <a:rPr lang="en-US" sz="2000" dirty="0"/>
              <a:t> – Popular in enterprise and game dev (Unity). (</a:t>
            </a:r>
            <a:r>
              <a:rPr lang="en-US" sz="2000" u="sng" dirty="0">
                <a:hlinkClick r:id="rId2" tooltip="Top 10 programming languages in 2025"/>
              </a:rPr>
              <a:t>Pluralsight</a:t>
            </a:r>
            <a:r>
              <a:rPr lang="en-US" sz="2000" dirty="0"/>
              <a:t>)</a:t>
            </a:r>
          </a:p>
          <a:p>
            <a:pPr lvl="0"/>
            <a:r>
              <a:rPr lang="en-US" sz="2000" b="1" dirty="0"/>
              <a:t>TypeScript</a:t>
            </a:r>
            <a:r>
              <a:rPr lang="en-US" sz="2000" dirty="0"/>
              <a:t> – JavaScript with types; growing fast in web/enterprise. (</a:t>
            </a:r>
            <a:r>
              <a:rPr lang="en-US" sz="2000" u="sng" dirty="0">
                <a:hlinkClick r:id="rId2" tooltip="Top 10 programming languages in 2025"/>
              </a:rPr>
              <a:t>Pluralsight</a:t>
            </a:r>
            <a:r>
              <a:rPr lang="en-US" sz="2000" dirty="0"/>
              <a:t>)</a:t>
            </a:r>
          </a:p>
          <a:p>
            <a:pPr lvl="0"/>
            <a:r>
              <a:rPr lang="en-US" sz="2000" b="1" dirty="0"/>
              <a:t>SQL</a:t>
            </a:r>
            <a:r>
              <a:rPr lang="en-US" sz="2000" dirty="0"/>
              <a:t> – Standard language for databases. (</a:t>
            </a:r>
            <a:r>
              <a:rPr lang="en-US" sz="2000" u="sng" dirty="0">
                <a:hlinkClick r:id="rId2" tooltip="Top 10 programming languages in 2025"/>
              </a:rPr>
              <a:t>Pluralsight</a:t>
            </a:r>
            <a:r>
              <a:rPr lang="en-US" sz="2000" dirty="0"/>
              <a:t>)</a:t>
            </a:r>
          </a:p>
          <a:p>
            <a:pPr lvl="0"/>
            <a:r>
              <a:rPr lang="en-US" sz="2000" b="1" dirty="0"/>
              <a:t>C</a:t>
            </a:r>
            <a:r>
              <a:rPr lang="en-US" sz="2000" dirty="0"/>
              <a:t> – Still foundational for OS, embedded systems. (</a:t>
            </a:r>
            <a:r>
              <a:rPr lang="en-US" sz="2000" u="sng" dirty="0">
                <a:hlinkClick r:id="rId3" tooltip="Index TIOBE"/>
              </a:rPr>
              <a:t>Wikipedia</a:t>
            </a:r>
            <a:r>
              <a:rPr lang="en-US" sz="2000" dirty="0"/>
              <a:t>)</a:t>
            </a:r>
          </a:p>
          <a:p>
            <a:pPr lvl="0"/>
            <a:r>
              <a:rPr lang="en-US" sz="2000" b="1" dirty="0"/>
              <a:t>Go (Golang)</a:t>
            </a:r>
            <a:r>
              <a:rPr lang="en-US" sz="2000" dirty="0"/>
              <a:t> – Cloud and modern backend services. (</a:t>
            </a:r>
            <a:r>
              <a:rPr lang="en-US" sz="2000" u="sng" dirty="0">
                <a:hlinkClick r:id="rId2" tooltip="Top 10 programming languages in 2025"/>
              </a:rPr>
              <a:t>Pluralsight</a:t>
            </a:r>
            <a:r>
              <a:rPr lang="en-US" sz="2000" dirty="0"/>
              <a:t>)</a:t>
            </a:r>
          </a:p>
          <a:p>
            <a:pPr lvl="0"/>
            <a:r>
              <a:rPr lang="en-US" sz="2000" b="1" dirty="0"/>
              <a:t>PHP / Swift / Kotlin</a:t>
            </a:r>
            <a:r>
              <a:rPr lang="en-US" sz="2000" dirty="0"/>
              <a:t> – These are often in top-10 lists depending on the ranking, with PHP strong for web backends and Swift/Kotlin strong for mobile. (</a:t>
            </a:r>
            <a:r>
              <a:rPr lang="en-US" sz="2000" u="sng" dirty="0">
                <a:hlinkClick r:id="rId2" tooltip="Top 10 programming languages in 2025"/>
              </a:rPr>
              <a:t>Pluralsight</a:t>
            </a:r>
            <a:r>
              <a:rPr lang="en-US" sz="2000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733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7FEB72-923F-29A7-1EA9-61495263C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0741"/>
            <a:ext cx="9144000" cy="38178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F4DD24-DCDB-7054-1C84-00A3FC0E2FAA}"/>
              </a:ext>
            </a:extLst>
          </p:cNvPr>
          <p:cNvSpPr txBox="1"/>
          <p:nvPr/>
        </p:nvSpPr>
        <p:spPr>
          <a:xfrm>
            <a:off x="2024742" y="4614077"/>
            <a:ext cx="3318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1995 Oak was renamed as Java</a:t>
            </a:r>
          </a:p>
        </p:txBody>
      </p:sp>
    </p:spTree>
    <p:extLst>
      <p:ext uri="{BB962C8B-B14F-4D97-AF65-F5344CB8AC3E}">
        <p14:creationId xmlns:p14="http://schemas.microsoft.com/office/powerpoint/2010/main" val="2290086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F445C4-1F12-25DE-D203-B74581E4F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510" y="1135642"/>
            <a:ext cx="7245722" cy="391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675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52711D-6604-2BCE-F615-B46DAEF29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8392" y="643466"/>
            <a:ext cx="4387214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425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DFC2DA-3D14-2121-CBAF-E99D0F368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911" y="643466"/>
            <a:ext cx="4972177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867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DBAD57-A333-DBDA-6D06-8E9F06552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868" y="924811"/>
            <a:ext cx="3187864" cy="806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151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336B5C-2FE0-B81D-6535-148BD3A1C090}"/>
              </a:ext>
            </a:extLst>
          </p:cNvPr>
          <p:cNvSpPr txBox="1"/>
          <p:nvPr/>
        </p:nvSpPr>
        <p:spPr>
          <a:xfrm>
            <a:off x="2220686" y="696686"/>
            <a:ext cx="1822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Attendance Rules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9AC01C-FF23-9B11-30F3-F18538F49EC3}"/>
              </a:ext>
            </a:extLst>
          </p:cNvPr>
          <p:cNvSpPr txBox="1"/>
          <p:nvPr/>
        </p:nvSpPr>
        <p:spPr>
          <a:xfrm>
            <a:off x="631371" y="1828800"/>
            <a:ext cx="50576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No Manual Attendance – 94 Students</a:t>
            </a:r>
          </a:p>
          <a:p>
            <a:pPr marL="342900" indent="-342900">
              <a:buAutoNum type="arabicPeriod"/>
            </a:pPr>
            <a:r>
              <a:rPr lang="en-US" dirty="0"/>
              <a:t>Proxy – 3 –</a:t>
            </a:r>
            <a:r>
              <a:rPr lang="en-US" dirty="0" err="1"/>
              <a:t>ve</a:t>
            </a:r>
            <a:r>
              <a:rPr lang="en-US" dirty="0"/>
              <a:t> attendance for person doing proxy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1FF82A-7EFF-0C73-D6B9-CF4D96DA1144}"/>
              </a:ext>
            </a:extLst>
          </p:cNvPr>
          <p:cNvSpPr txBox="1"/>
          <p:nvPr/>
        </p:nvSpPr>
        <p:spPr>
          <a:xfrm>
            <a:off x="2373086" y="3537857"/>
            <a:ext cx="1434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Lab &amp; Theory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192FC6-CC82-E2AE-1D68-E8BE267F85AA}"/>
              </a:ext>
            </a:extLst>
          </p:cNvPr>
          <p:cNvSpPr txBox="1"/>
          <p:nvPr/>
        </p:nvSpPr>
        <p:spPr>
          <a:xfrm>
            <a:off x="881743" y="4648200"/>
            <a:ext cx="2211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Lab Teacher for B7 B8</a:t>
            </a:r>
          </a:p>
        </p:txBody>
      </p:sp>
    </p:spTree>
    <p:extLst>
      <p:ext uri="{BB962C8B-B14F-4D97-AF65-F5344CB8AC3E}">
        <p14:creationId xmlns:p14="http://schemas.microsoft.com/office/powerpoint/2010/main" val="447063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E67306-8CA9-DD7F-F525-C03E53980F23}"/>
              </a:ext>
            </a:extLst>
          </p:cNvPr>
          <p:cNvSpPr txBox="1"/>
          <p:nvPr/>
        </p:nvSpPr>
        <p:spPr>
          <a:xfrm>
            <a:off x="2275114" y="838200"/>
            <a:ext cx="1218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Homework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D877EA-E77E-1159-A0F4-CE55C13A015A}"/>
              </a:ext>
            </a:extLst>
          </p:cNvPr>
          <p:cNvSpPr txBox="1"/>
          <p:nvPr/>
        </p:nvSpPr>
        <p:spPr>
          <a:xfrm>
            <a:off x="1495606" y="2308163"/>
            <a:ext cx="3996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highlight>
                  <a:srgbClr val="FFFF00"/>
                </a:highlight>
              </a:rPr>
              <a:t>Write Once – Run Anywhere </a:t>
            </a:r>
            <a:r>
              <a:rPr lang="en-US" dirty="0"/>
              <a:t>----- How ??</a:t>
            </a:r>
          </a:p>
        </p:txBody>
      </p:sp>
    </p:spTree>
    <p:extLst>
      <p:ext uri="{BB962C8B-B14F-4D97-AF65-F5344CB8AC3E}">
        <p14:creationId xmlns:p14="http://schemas.microsoft.com/office/powerpoint/2010/main" val="2451997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214</Words>
  <Application>Microsoft Office PowerPoint</Application>
  <PresentationFormat>On-screen Show (4:3)</PresentationFormat>
  <Paragraphs>18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Deepika Sachdev</dc:creator>
  <cp:keywords/>
  <dc:description>generated using python-pptx</dc:description>
  <cp:lastModifiedBy>Deepika Sachdev</cp:lastModifiedBy>
  <cp:revision>14</cp:revision>
  <dcterms:created xsi:type="dcterms:W3CDTF">2013-01-27T09:14:16Z</dcterms:created>
  <dcterms:modified xsi:type="dcterms:W3CDTF">2026-01-20T03:15:35Z</dcterms:modified>
  <cp:category/>
</cp:coreProperties>
</file>