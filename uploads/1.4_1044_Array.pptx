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46" r:id="rId2"/>
    <p:sldId id="354" r:id="rId3"/>
    <p:sldId id="353" r:id="rId4"/>
    <p:sldId id="357" r:id="rId5"/>
    <p:sldId id="358" r:id="rId6"/>
    <p:sldId id="355" r:id="rId7"/>
    <p:sldId id="350" r:id="rId8"/>
    <p:sldId id="356" r:id="rId9"/>
    <p:sldId id="359" r:id="rId10"/>
    <p:sldId id="360" r:id="rId11"/>
    <p:sldId id="351" r:id="rId12"/>
    <p:sldId id="35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1" d="100"/>
          <a:sy n="71" d="100"/>
        </p:scale>
        <p:origin x="1140" y="-72"/>
      </p:cViewPr>
      <p:guideLst>
        <p:guide orient="horz" pos="2160"/>
        <p:guide pos="2880"/>
      </p:guideLst>
    </p:cSldViewPr>
  </p:slideViewPr>
  <p:notesTextViewPr>
    <p:cViewPr>
      <p:scale>
        <a:sx n="3" d="2"/>
        <a:sy n="3" d="2"/>
      </p:scale>
      <p:origin x="0" y="0"/>
    </p:cViewPr>
  </p:notesTextViewPr>
  <p:sorterViewPr>
    <p:cViewPr>
      <p:scale>
        <a:sx n="78" d="100"/>
        <a:sy n="78"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3E4020-320D-E0AE-B47E-AD4B3CA58ED3}"/>
              </a:ext>
            </a:extLst>
          </p:cNvPr>
          <p:cNvPicPr>
            <a:picLocks noChangeAspect="1"/>
          </p:cNvPicPr>
          <p:nvPr/>
        </p:nvPicPr>
        <p:blipFill>
          <a:blip r:embed="rId2"/>
          <a:stretch>
            <a:fillRect/>
          </a:stretch>
        </p:blipFill>
        <p:spPr>
          <a:xfrm>
            <a:off x="0" y="1656956"/>
            <a:ext cx="9144000" cy="3544088"/>
          </a:xfrm>
          <a:prstGeom prst="rect">
            <a:avLst/>
          </a:prstGeom>
        </p:spPr>
      </p:pic>
    </p:spTree>
    <p:extLst>
      <p:ext uri="{BB962C8B-B14F-4D97-AF65-F5344CB8AC3E}">
        <p14:creationId xmlns:p14="http://schemas.microsoft.com/office/powerpoint/2010/main" val="3968064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B52237-B215-8CEB-0E9B-7789D6610E99}"/>
              </a:ext>
            </a:extLst>
          </p:cNvPr>
          <p:cNvSpPr txBox="1"/>
          <p:nvPr/>
        </p:nvSpPr>
        <p:spPr>
          <a:xfrm>
            <a:off x="135467" y="67733"/>
            <a:ext cx="8671649" cy="7509748"/>
          </a:xfrm>
          <a:prstGeom prst="rect">
            <a:avLst/>
          </a:prstGeom>
          <a:noFill/>
        </p:spPr>
        <p:txBody>
          <a:bodyPr wrap="square" rtlCol="0">
            <a:spAutoFit/>
          </a:bodyPr>
          <a:lstStyle/>
          <a:p>
            <a:r>
              <a:rPr lang="en-US" sz="2400" dirty="0">
                <a:highlight>
                  <a:srgbClr val="FFFF00"/>
                </a:highlight>
              </a:rPr>
              <a:t>Key Points of Arrays in Java</a:t>
            </a:r>
          </a:p>
          <a:p>
            <a:endParaRPr lang="en-US" sz="2400" dirty="0"/>
          </a:p>
          <a:p>
            <a:pPr marL="342900" indent="-342900">
              <a:buFont typeface="Arial" panose="020B0604020202020204" pitchFamily="34" charset="0"/>
              <a:buChar char="•"/>
            </a:pPr>
            <a:r>
              <a:rPr lang="en-US" sz="2800" dirty="0"/>
              <a:t> An array is a fixed-size collection of elements of the same data type.</a:t>
            </a:r>
          </a:p>
          <a:p>
            <a:pPr marL="342900" indent="-342900">
              <a:buFont typeface="Arial" panose="020B0604020202020204" pitchFamily="34" charset="0"/>
              <a:buChar char="•"/>
            </a:pPr>
            <a:r>
              <a:rPr lang="en-US" sz="2800" dirty="0"/>
              <a:t>Array access is fast because elements are accessed using index values. Array elements are stored in contiguous memory locations. Array size is decided at creation time and cannot be changed later. Arrays use zero-based indexing (first element at index `0`).</a:t>
            </a:r>
          </a:p>
          <a:p>
            <a:pPr marL="342900" indent="-342900">
              <a:buFont typeface="Arial" panose="020B0604020202020204" pitchFamily="34" charset="0"/>
              <a:buChar char="•"/>
            </a:pPr>
            <a:r>
              <a:rPr lang="en-US" sz="2800" dirty="0"/>
              <a:t>Arrays in Java are objects, not primitive variables. The `length` property gives the size of the array (not a method). Arrays are created using the `new` keyword.  Java automatically initializes array elements with default values.</a:t>
            </a:r>
          </a:p>
          <a:p>
            <a:pPr marL="342900" indent="-342900">
              <a:buFont typeface="Arial" panose="020B0604020202020204" pitchFamily="34" charset="0"/>
              <a:buChar char="•"/>
            </a:pPr>
            <a:r>
              <a:rPr lang="en-US" sz="2800" dirty="0"/>
              <a:t>Primitive arrays store values directly, whereas object arrays store references to objects.</a:t>
            </a:r>
          </a:p>
          <a:p>
            <a:endParaRPr lang="en-US" sz="2400" dirty="0"/>
          </a:p>
          <a:p>
            <a:endParaRPr lang="en-US" dirty="0"/>
          </a:p>
        </p:txBody>
      </p:sp>
    </p:spTree>
    <p:extLst>
      <p:ext uri="{BB962C8B-B14F-4D97-AF65-F5344CB8AC3E}">
        <p14:creationId xmlns:p14="http://schemas.microsoft.com/office/powerpoint/2010/main" val="3652956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CAE506-347D-88AD-C189-4B81212E1AAE}"/>
              </a:ext>
            </a:extLst>
          </p:cNvPr>
          <p:cNvSpPr txBox="1"/>
          <p:nvPr/>
        </p:nvSpPr>
        <p:spPr>
          <a:xfrm>
            <a:off x="145143" y="117693"/>
            <a:ext cx="3128036" cy="6740307"/>
          </a:xfrm>
          <a:prstGeom prst="rect">
            <a:avLst/>
          </a:prstGeom>
          <a:solidFill>
            <a:schemeClr val="bg1">
              <a:lumMod val="85000"/>
            </a:schemeClr>
          </a:solidFill>
        </p:spPr>
        <p:txBody>
          <a:bodyPr wrap="none" rtlCol="0">
            <a:spAutoFit/>
          </a:bodyPr>
          <a:lstStyle/>
          <a:p>
            <a:r>
              <a:rPr lang="en-US" sz="1200" dirty="0"/>
              <a:t>SET 1: PRIMITIVE ARRAY (int, double, char, etc.)</a:t>
            </a:r>
          </a:p>
          <a:p>
            <a:endParaRPr lang="en-US" sz="1200" dirty="0"/>
          </a:p>
          <a:p>
            <a:r>
              <a:rPr lang="en-US" sz="1200" dirty="0">
                <a:highlight>
                  <a:srgbClr val="FFFF00"/>
                </a:highlight>
              </a:rPr>
              <a:t> Declare Array</a:t>
            </a:r>
          </a:p>
          <a:p>
            <a:r>
              <a:rPr lang="en-US" sz="1200" dirty="0"/>
              <a:t>&lt;type&gt; &lt;</a:t>
            </a:r>
            <a:r>
              <a:rPr lang="en-US" sz="1200" dirty="0" err="1"/>
              <a:t>arrayName</a:t>
            </a:r>
            <a:r>
              <a:rPr lang="en-US" sz="1200" dirty="0"/>
              <a:t>&gt;[];</a:t>
            </a:r>
          </a:p>
          <a:p>
            <a:r>
              <a:rPr lang="en-US" sz="1200" dirty="0"/>
              <a:t>e.g.</a:t>
            </a:r>
          </a:p>
          <a:p>
            <a:r>
              <a:rPr lang="en-US" sz="1200" dirty="0"/>
              <a:t>int x[];</a:t>
            </a:r>
          </a:p>
          <a:p>
            <a:endParaRPr lang="en-US" sz="1200" dirty="0"/>
          </a:p>
          <a:p>
            <a:r>
              <a:rPr lang="en-US" sz="1200" dirty="0"/>
              <a:t> </a:t>
            </a:r>
            <a:r>
              <a:rPr lang="en-US" sz="1200" dirty="0">
                <a:highlight>
                  <a:srgbClr val="FFFF00"/>
                </a:highlight>
              </a:rPr>
              <a:t>Allocate Memory to array</a:t>
            </a:r>
          </a:p>
          <a:p>
            <a:r>
              <a:rPr lang="en-US" sz="1200" dirty="0"/>
              <a:t>&lt;</a:t>
            </a:r>
            <a:r>
              <a:rPr lang="en-US" sz="1200" dirty="0" err="1"/>
              <a:t>arrayName</a:t>
            </a:r>
            <a:r>
              <a:rPr lang="en-US" sz="1200" dirty="0"/>
              <a:t>&gt; = new &lt;type&gt;[&lt;size&gt;];</a:t>
            </a:r>
          </a:p>
          <a:p>
            <a:r>
              <a:rPr lang="en-US" sz="1200" dirty="0"/>
              <a:t>e.g.</a:t>
            </a:r>
          </a:p>
          <a:p>
            <a:r>
              <a:rPr lang="en-US" sz="1200" dirty="0"/>
              <a:t>x = new int[100];</a:t>
            </a:r>
          </a:p>
          <a:p>
            <a:r>
              <a:rPr lang="en-US" sz="1200" dirty="0">
                <a:highlight>
                  <a:srgbClr val="00FF00"/>
                </a:highlight>
              </a:rPr>
              <a:t> Define and allocate memory together</a:t>
            </a:r>
          </a:p>
          <a:p>
            <a:r>
              <a:rPr lang="en-US" sz="1200" dirty="0"/>
              <a:t>&lt;type&gt; &lt;</a:t>
            </a:r>
            <a:r>
              <a:rPr lang="en-US" sz="1200" dirty="0" err="1"/>
              <a:t>arrayName</a:t>
            </a:r>
            <a:r>
              <a:rPr lang="en-US" sz="1200" dirty="0"/>
              <a:t>&gt;[] = new &lt;type&gt;[&lt;size&gt;];</a:t>
            </a:r>
          </a:p>
          <a:p>
            <a:r>
              <a:rPr lang="en-US" sz="1200" dirty="0"/>
              <a:t>e.g.</a:t>
            </a:r>
          </a:p>
          <a:p>
            <a:r>
              <a:rPr lang="en-US" sz="1200" dirty="0"/>
              <a:t>int x[] = new int[100];</a:t>
            </a:r>
          </a:p>
          <a:p>
            <a:r>
              <a:rPr lang="en-US" sz="1200" dirty="0">
                <a:highlight>
                  <a:srgbClr val="FFFF00"/>
                </a:highlight>
              </a:rPr>
              <a:t> Initialize Array: Option 1</a:t>
            </a:r>
          </a:p>
          <a:p>
            <a:r>
              <a:rPr lang="en-US" sz="1200" dirty="0"/>
              <a:t>&lt;</a:t>
            </a:r>
            <a:r>
              <a:rPr lang="en-US" sz="1200" dirty="0" err="1"/>
              <a:t>arrayName</a:t>
            </a:r>
            <a:r>
              <a:rPr lang="en-US" sz="1200" dirty="0"/>
              <a:t>&gt;[&lt;subscript&gt;] = &lt;value&gt;;</a:t>
            </a:r>
          </a:p>
          <a:p>
            <a:r>
              <a:rPr lang="en-US" sz="1200" dirty="0"/>
              <a:t>e.g.</a:t>
            </a:r>
          </a:p>
          <a:p>
            <a:r>
              <a:rPr lang="en-US" sz="1200" dirty="0"/>
              <a:t>x[5] = 100;</a:t>
            </a:r>
          </a:p>
          <a:p>
            <a:endParaRPr lang="en-US" sz="1200" dirty="0"/>
          </a:p>
          <a:p>
            <a:r>
              <a:rPr lang="en-US" sz="1200" dirty="0"/>
              <a:t>Using loop:</a:t>
            </a:r>
          </a:p>
          <a:p>
            <a:r>
              <a:rPr lang="en-US" sz="1200" dirty="0"/>
              <a:t>For (int </a:t>
            </a:r>
            <a:r>
              <a:rPr lang="en-US" sz="1200" dirty="0" err="1"/>
              <a:t>i</a:t>
            </a:r>
            <a:r>
              <a:rPr lang="en-US" sz="1200" dirty="0"/>
              <a:t> = 0; </a:t>
            </a:r>
            <a:r>
              <a:rPr lang="en-US" sz="1200" dirty="0" err="1"/>
              <a:t>i</a:t>
            </a:r>
            <a:r>
              <a:rPr lang="en-US" sz="1200" dirty="0"/>
              <a:t> &lt; 100; </a:t>
            </a:r>
            <a:r>
              <a:rPr lang="en-US" sz="1200" dirty="0" err="1"/>
              <a:t>i</a:t>
            </a:r>
            <a:r>
              <a:rPr lang="en-US" sz="1200" dirty="0"/>
              <a:t>++)</a:t>
            </a:r>
          </a:p>
          <a:p>
            <a:r>
              <a:rPr lang="en-US" sz="1200" dirty="0"/>
              <a:t>x[</a:t>
            </a:r>
            <a:r>
              <a:rPr lang="en-US" sz="1200" dirty="0" err="1"/>
              <a:t>i</a:t>
            </a:r>
            <a:r>
              <a:rPr lang="en-US" sz="1200" dirty="0"/>
              <a:t>] = &lt;value&gt;;</a:t>
            </a:r>
          </a:p>
          <a:p>
            <a:endParaRPr lang="en-US" sz="1200" dirty="0">
              <a:highlight>
                <a:srgbClr val="00FF00"/>
              </a:highlight>
            </a:endParaRPr>
          </a:p>
          <a:p>
            <a:r>
              <a:rPr lang="en-US" sz="1200" dirty="0">
                <a:highlight>
                  <a:srgbClr val="00FF00"/>
                </a:highlight>
              </a:rPr>
              <a:t> Initialize Array: Option 2</a:t>
            </a:r>
          </a:p>
          <a:p>
            <a:endParaRPr lang="en-US" sz="1200" dirty="0"/>
          </a:p>
          <a:p>
            <a:r>
              <a:rPr lang="en-US" sz="1200" dirty="0"/>
              <a:t>&lt;type&gt; &lt;</a:t>
            </a:r>
            <a:r>
              <a:rPr lang="en-US" sz="1200" dirty="0" err="1"/>
              <a:t>arrayName</a:t>
            </a:r>
            <a:r>
              <a:rPr lang="en-US" sz="1200" dirty="0"/>
              <a:t>&gt;[] = { &lt;list of values&gt; };</a:t>
            </a:r>
          </a:p>
          <a:p>
            <a:r>
              <a:rPr lang="en-US" sz="1200" dirty="0"/>
              <a:t>e.g.</a:t>
            </a:r>
          </a:p>
          <a:p>
            <a:r>
              <a:rPr lang="en-US" sz="1200" dirty="0"/>
              <a:t>int x[] = {12, 13, 14};</a:t>
            </a:r>
          </a:p>
          <a:p>
            <a:endParaRPr lang="en-US" sz="1200" dirty="0"/>
          </a:p>
          <a:p>
            <a:endParaRPr lang="en-US" sz="1200" dirty="0">
              <a:highlight>
                <a:srgbClr val="FFFF00"/>
              </a:highlight>
            </a:endParaRPr>
          </a:p>
          <a:p>
            <a:r>
              <a:rPr lang="en-US" sz="1200" dirty="0">
                <a:highlight>
                  <a:srgbClr val="FFFF00"/>
                </a:highlight>
              </a:rPr>
              <a:t> Size </a:t>
            </a:r>
            <a:r>
              <a:rPr lang="en-US" sz="1200" dirty="0"/>
              <a:t>of array</a:t>
            </a:r>
          </a:p>
          <a:p>
            <a:endParaRPr lang="en-US" sz="1200" dirty="0"/>
          </a:p>
          <a:p>
            <a:r>
              <a:rPr lang="en-US" sz="1200" dirty="0"/>
              <a:t>int </a:t>
            </a:r>
            <a:r>
              <a:rPr lang="en-US" sz="1200" dirty="0" err="1"/>
              <a:t>i</a:t>
            </a:r>
            <a:r>
              <a:rPr lang="en-US" sz="1200" dirty="0"/>
              <a:t> = </a:t>
            </a:r>
            <a:r>
              <a:rPr lang="en-US" sz="1200" dirty="0" err="1"/>
              <a:t>x.length</a:t>
            </a:r>
            <a:r>
              <a:rPr lang="en-US" sz="1200" dirty="0"/>
              <a:t>;</a:t>
            </a:r>
          </a:p>
          <a:p>
            <a:endParaRPr lang="en-US" sz="1200" dirty="0"/>
          </a:p>
        </p:txBody>
      </p:sp>
      <p:sp>
        <p:nvSpPr>
          <p:cNvPr id="3" name="TextBox 2">
            <a:extLst>
              <a:ext uri="{FF2B5EF4-FFF2-40B4-BE49-F238E27FC236}">
                <a16:creationId xmlns:a16="http://schemas.microsoft.com/office/drawing/2014/main" id="{493FB529-620B-3FEF-87AF-8238EB220383}"/>
              </a:ext>
            </a:extLst>
          </p:cNvPr>
          <p:cNvSpPr txBox="1"/>
          <p:nvPr/>
        </p:nvSpPr>
        <p:spPr>
          <a:xfrm>
            <a:off x="3449769" y="33026"/>
            <a:ext cx="5549088" cy="7017306"/>
          </a:xfrm>
          <a:prstGeom prst="rect">
            <a:avLst/>
          </a:prstGeom>
          <a:solidFill>
            <a:schemeClr val="accent3">
              <a:lumMod val="20000"/>
              <a:lumOff val="80000"/>
            </a:schemeClr>
          </a:solidFill>
        </p:spPr>
        <p:txBody>
          <a:bodyPr wrap="square" rtlCol="0">
            <a:spAutoFit/>
          </a:bodyPr>
          <a:lstStyle/>
          <a:p>
            <a:r>
              <a:rPr lang="en-US" dirty="0"/>
              <a:t>SET 2: OBJECT ARRAY (class type)</a:t>
            </a:r>
          </a:p>
          <a:p>
            <a:r>
              <a:rPr lang="en-US" dirty="0">
                <a:highlight>
                  <a:srgbClr val="FFFF00"/>
                </a:highlight>
              </a:rPr>
              <a:t> Declare Array</a:t>
            </a:r>
          </a:p>
          <a:p>
            <a:r>
              <a:rPr lang="en-US" dirty="0"/>
              <a:t>&lt;</a:t>
            </a:r>
            <a:r>
              <a:rPr lang="en-US" dirty="0" err="1"/>
              <a:t>className</a:t>
            </a:r>
            <a:r>
              <a:rPr lang="en-US" dirty="0"/>
              <a:t>&gt; &lt;</a:t>
            </a:r>
            <a:r>
              <a:rPr lang="en-US" dirty="0" err="1"/>
              <a:t>arrayName</a:t>
            </a:r>
            <a:r>
              <a:rPr lang="en-US" dirty="0"/>
              <a:t>&gt;[];</a:t>
            </a:r>
          </a:p>
          <a:p>
            <a:r>
              <a:rPr lang="en-US" dirty="0"/>
              <a:t>e.g. Book books[];</a:t>
            </a:r>
          </a:p>
          <a:p>
            <a:r>
              <a:rPr lang="en-US" dirty="0">
                <a:highlight>
                  <a:srgbClr val="FFFF00"/>
                </a:highlight>
              </a:rPr>
              <a:t>Allocate Memory to array (references only)</a:t>
            </a:r>
          </a:p>
          <a:p>
            <a:r>
              <a:rPr lang="en-US" dirty="0"/>
              <a:t>&lt;</a:t>
            </a:r>
            <a:r>
              <a:rPr lang="en-US" dirty="0" err="1"/>
              <a:t>arrayName</a:t>
            </a:r>
            <a:r>
              <a:rPr lang="en-US" dirty="0"/>
              <a:t>&gt; = new &lt;</a:t>
            </a:r>
            <a:r>
              <a:rPr lang="en-US" dirty="0" err="1"/>
              <a:t>className</a:t>
            </a:r>
            <a:r>
              <a:rPr lang="en-US" dirty="0"/>
              <a:t>&gt;[&lt;size&gt;];</a:t>
            </a:r>
          </a:p>
          <a:p>
            <a:r>
              <a:rPr lang="en-US" dirty="0"/>
              <a:t>e.g. books = new Book[3];</a:t>
            </a:r>
          </a:p>
          <a:p>
            <a:r>
              <a:rPr lang="en-US" dirty="0">
                <a:highlight>
                  <a:srgbClr val="00FF00"/>
                </a:highlight>
              </a:rPr>
              <a:t> Define and allocate memory together</a:t>
            </a:r>
          </a:p>
          <a:p>
            <a:r>
              <a:rPr lang="en-US" dirty="0"/>
              <a:t>&lt;</a:t>
            </a:r>
            <a:r>
              <a:rPr lang="en-US" dirty="0" err="1"/>
              <a:t>className</a:t>
            </a:r>
            <a:r>
              <a:rPr lang="en-US" dirty="0"/>
              <a:t>&gt; &lt;</a:t>
            </a:r>
            <a:r>
              <a:rPr lang="en-US" dirty="0" err="1"/>
              <a:t>arrayName</a:t>
            </a:r>
            <a:r>
              <a:rPr lang="en-US" dirty="0"/>
              <a:t>&gt;[] = new &lt;</a:t>
            </a:r>
            <a:r>
              <a:rPr lang="en-US" dirty="0" err="1"/>
              <a:t>className</a:t>
            </a:r>
            <a:r>
              <a:rPr lang="en-US" dirty="0"/>
              <a:t>&gt;[&lt;size&gt;];</a:t>
            </a:r>
          </a:p>
          <a:p>
            <a:r>
              <a:rPr lang="en-US" dirty="0"/>
              <a:t>e.g. Book books[] = new Book[3];</a:t>
            </a:r>
          </a:p>
          <a:p>
            <a:r>
              <a:rPr lang="en-US" dirty="0">
                <a:highlight>
                  <a:srgbClr val="FFFF00"/>
                </a:highlight>
              </a:rPr>
              <a:t> Initialize Array: Option 1 (IMPORTANT – object creation required)</a:t>
            </a:r>
          </a:p>
          <a:p>
            <a:r>
              <a:rPr lang="en-US" dirty="0"/>
              <a:t>&lt;</a:t>
            </a:r>
            <a:r>
              <a:rPr lang="en-US" dirty="0" err="1"/>
              <a:t>arrayName</a:t>
            </a:r>
            <a:r>
              <a:rPr lang="en-US" dirty="0"/>
              <a:t>&gt;[&lt;index&gt;] = new &lt;</a:t>
            </a:r>
            <a:r>
              <a:rPr lang="en-US" dirty="0" err="1"/>
              <a:t>className</a:t>
            </a:r>
            <a:r>
              <a:rPr lang="en-US" dirty="0"/>
              <a:t>&gt;();</a:t>
            </a:r>
          </a:p>
          <a:p>
            <a:r>
              <a:rPr lang="en-US" dirty="0"/>
              <a:t>books[0] = new Book();</a:t>
            </a:r>
          </a:p>
          <a:p>
            <a:r>
              <a:rPr lang="en-US" dirty="0"/>
              <a:t>books[1] = new Book();</a:t>
            </a:r>
          </a:p>
          <a:p>
            <a:r>
              <a:rPr lang="en-US" dirty="0"/>
              <a:t>Assign values to object fields:</a:t>
            </a:r>
          </a:p>
          <a:p>
            <a:r>
              <a:rPr lang="en-US" dirty="0"/>
              <a:t>books[0].title = "Java";</a:t>
            </a:r>
          </a:p>
          <a:p>
            <a:r>
              <a:rPr lang="en-US" dirty="0"/>
              <a:t>books[1].title = "OOP";</a:t>
            </a:r>
          </a:p>
          <a:p>
            <a:r>
              <a:rPr lang="en-US" dirty="0">
                <a:highlight>
                  <a:srgbClr val="00FF00"/>
                </a:highlight>
              </a:rPr>
              <a:t>Initialize Array: Option 2 (array + objects together)</a:t>
            </a:r>
          </a:p>
          <a:p>
            <a:r>
              <a:rPr lang="en-US" dirty="0"/>
              <a:t>&lt;</a:t>
            </a:r>
            <a:r>
              <a:rPr lang="en-US" dirty="0" err="1"/>
              <a:t>className</a:t>
            </a:r>
            <a:r>
              <a:rPr lang="en-US" dirty="0"/>
              <a:t>&gt; &lt;</a:t>
            </a:r>
            <a:r>
              <a:rPr lang="en-US" dirty="0" err="1"/>
              <a:t>arrayName</a:t>
            </a:r>
            <a:r>
              <a:rPr lang="en-US" dirty="0"/>
              <a:t>&gt;[] = { new &lt;</a:t>
            </a:r>
            <a:r>
              <a:rPr lang="en-US" dirty="0" err="1"/>
              <a:t>className</a:t>
            </a:r>
            <a:r>
              <a:rPr lang="en-US" dirty="0"/>
              <a:t>&gt;(), new &lt;</a:t>
            </a:r>
            <a:r>
              <a:rPr lang="en-US" dirty="0" err="1"/>
              <a:t>className</a:t>
            </a:r>
            <a:r>
              <a:rPr lang="en-US" dirty="0"/>
              <a:t>&gt;() };</a:t>
            </a:r>
          </a:p>
          <a:p>
            <a:r>
              <a:rPr lang="en-US" dirty="0" err="1"/>
              <a:t>e.g.Book</a:t>
            </a:r>
            <a:r>
              <a:rPr lang="en-US" dirty="0"/>
              <a:t> books[] = { new Book(), new Book() };</a:t>
            </a:r>
          </a:p>
          <a:p>
            <a:r>
              <a:rPr lang="en-US" dirty="0"/>
              <a:t> </a:t>
            </a:r>
            <a:r>
              <a:rPr lang="en-US" dirty="0">
                <a:highlight>
                  <a:srgbClr val="FFFF00"/>
                </a:highlight>
              </a:rPr>
              <a:t>Size of array</a:t>
            </a:r>
          </a:p>
          <a:p>
            <a:r>
              <a:rPr lang="en-US" dirty="0"/>
              <a:t>int </a:t>
            </a:r>
            <a:r>
              <a:rPr lang="en-US" dirty="0" err="1"/>
              <a:t>i</a:t>
            </a:r>
            <a:r>
              <a:rPr lang="en-US" dirty="0"/>
              <a:t> = </a:t>
            </a:r>
            <a:r>
              <a:rPr lang="en-US" dirty="0" err="1"/>
              <a:t>books.length</a:t>
            </a:r>
            <a:r>
              <a:rPr lang="en-US" dirty="0"/>
              <a:t>;</a:t>
            </a:r>
          </a:p>
          <a:p>
            <a:endParaRPr lang="en-US" dirty="0"/>
          </a:p>
        </p:txBody>
      </p:sp>
    </p:spTree>
    <p:extLst>
      <p:ext uri="{BB962C8B-B14F-4D97-AF65-F5344CB8AC3E}">
        <p14:creationId xmlns:p14="http://schemas.microsoft.com/office/powerpoint/2010/main" val="1663345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F7DFBD-0974-93A0-2122-8E0921536093}"/>
              </a:ext>
            </a:extLst>
          </p:cNvPr>
          <p:cNvSpPr txBox="1"/>
          <p:nvPr/>
        </p:nvSpPr>
        <p:spPr>
          <a:xfrm>
            <a:off x="0" y="195935"/>
            <a:ext cx="5927969" cy="1938992"/>
          </a:xfrm>
          <a:prstGeom prst="rect">
            <a:avLst/>
          </a:prstGeom>
          <a:solidFill>
            <a:schemeClr val="bg1">
              <a:lumMod val="95000"/>
            </a:schemeClr>
          </a:solidFill>
        </p:spPr>
        <p:txBody>
          <a:bodyPr wrap="none" rtlCol="0">
            <a:spAutoFit/>
          </a:bodyPr>
          <a:lstStyle/>
          <a:p>
            <a:r>
              <a:rPr lang="en-US" sz="2000" dirty="0"/>
              <a:t>Write a Java program that:</a:t>
            </a:r>
          </a:p>
          <a:p>
            <a:pPr marL="285750" indent="-285750">
              <a:buFont typeface="Arial" panose="020B0604020202020204" pitchFamily="34" charset="0"/>
              <a:buChar char="•"/>
            </a:pPr>
            <a:r>
              <a:rPr lang="en-US" sz="2000" dirty="0"/>
              <a:t>Declares an integer array</a:t>
            </a:r>
          </a:p>
          <a:p>
            <a:pPr marL="285750" indent="-285750">
              <a:buFont typeface="Arial" panose="020B0604020202020204" pitchFamily="34" charset="0"/>
              <a:buChar char="•"/>
            </a:pPr>
            <a:r>
              <a:rPr lang="en-US" sz="2000" dirty="0"/>
              <a:t>Allocates memory for the array (size 5)</a:t>
            </a:r>
          </a:p>
          <a:p>
            <a:pPr marL="285750" indent="-285750">
              <a:buFont typeface="Arial" panose="020B0604020202020204" pitchFamily="34" charset="0"/>
              <a:buChar char="•"/>
            </a:pPr>
            <a:r>
              <a:rPr lang="en-US" sz="2000" dirty="0"/>
              <a:t>Initializes the array elements with any integer values</a:t>
            </a:r>
          </a:p>
          <a:p>
            <a:pPr marL="285750" indent="-285750">
              <a:buFont typeface="Arial" panose="020B0604020202020204" pitchFamily="34" charset="0"/>
              <a:buChar char="•"/>
            </a:pPr>
            <a:r>
              <a:rPr lang="en-US" sz="2000" dirty="0"/>
              <a:t>Prints all array elements using a loop</a:t>
            </a:r>
          </a:p>
          <a:p>
            <a:endParaRPr lang="en-US" sz="2000" dirty="0"/>
          </a:p>
        </p:txBody>
      </p:sp>
      <p:sp>
        <p:nvSpPr>
          <p:cNvPr id="5" name="TextBox 4">
            <a:extLst>
              <a:ext uri="{FF2B5EF4-FFF2-40B4-BE49-F238E27FC236}">
                <a16:creationId xmlns:a16="http://schemas.microsoft.com/office/drawing/2014/main" id="{EC8B45FA-198B-2041-9F61-DEA10D07E9E6}"/>
              </a:ext>
            </a:extLst>
          </p:cNvPr>
          <p:cNvSpPr txBox="1"/>
          <p:nvPr/>
        </p:nvSpPr>
        <p:spPr>
          <a:xfrm>
            <a:off x="0" y="2220271"/>
            <a:ext cx="6774290" cy="2246769"/>
          </a:xfrm>
          <a:prstGeom prst="rect">
            <a:avLst/>
          </a:prstGeom>
          <a:solidFill>
            <a:schemeClr val="tx2">
              <a:lumMod val="20000"/>
              <a:lumOff val="80000"/>
            </a:schemeClr>
          </a:solidFill>
        </p:spPr>
        <p:txBody>
          <a:bodyPr wrap="none" rtlCol="0">
            <a:spAutoFit/>
          </a:bodyPr>
          <a:lstStyle/>
          <a:p>
            <a:pPr marL="285750" indent="-285750">
              <a:buFont typeface="Arial" panose="020B0604020202020204" pitchFamily="34" charset="0"/>
              <a:buChar char="•"/>
            </a:pPr>
            <a:r>
              <a:rPr lang="en-US" sz="2000" dirty="0"/>
              <a:t>Create a class named </a:t>
            </a:r>
            <a:r>
              <a:rPr lang="en-US" sz="2000" dirty="0" err="1"/>
              <a:t>IntArrayDemo</a:t>
            </a:r>
            <a:r>
              <a:rPr lang="en-US" sz="2000" dirty="0"/>
              <a:t>.</a:t>
            </a:r>
          </a:p>
          <a:p>
            <a:pPr marL="285750" indent="-285750">
              <a:buFont typeface="Arial" panose="020B0604020202020204" pitchFamily="34" charset="0"/>
              <a:buChar char="•"/>
            </a:pPr>
            <a:r>
              <a:rPr lang="en-US" sz="2000" dirty="0"/>
              <a:t>Define the main method as the program entry point.</a:t>
            </a:r>
          </a:p>
          <a:p>
            <a:pPr marL="285750" indent="-285750">
              <a:buFont typeface="Arial" panose="020B0604020202020204" pitchFamily="34" charset="0"/>
              <a:buChar char="•"/>
            </a:pPr>
            <a:r>
              <a:rPr lang="en-US" sz="2000" dirty="0"/>
              <a:t>Inside main, declare an integer array variable.</a:t>
            </a:r>
          </a:p>
          <a:p>
            <a:pPr marL="285750" indent="-285750">
              <a:buFont typeface="Arial" panose="020B0604020202020204" pitchFamily="34" charset="0"/>
              <a:buChar char="•"/>
            </a:pPr>
            <a:r>
              <a:rPr lang="en-US" sz="2000" dirty="0"/>
              <a:t>Allocate memory to the array for 5 integer elements.</a:t>
            </a:r>
          </a:p>
          <a:p>
            <a:pPr marL="285750" indent="-285750">
              <a:buFont typeface="Arial" panose="020B0604020202020204" pitchFamily="34" charset="0"/>
              <a:buChar char="•"/>
            </a:pPr>
            <a:r>
              <a:rPr lang="en-US" sz="2000" dirty="0"/>
              <a:t>Initialize the array elements with integer values using a loop.</a:t>
            </a:r>
          </a:p>
          <a:p>
            <a:pPr marL="285750" indent="-285750">
              <a:buFont typeface="Arial" panose="020B0604020202020204" pitchFamily="34" charset="0"/>
              <a:buChar char="•"/>
            </a:pPr>
            <a:r>
              <a:rPr lang="en-US" sz="2000" dirty="0"/>
              <a:t>Use a loop to access each array element.</a:t>
            </a:r>
          </a:p>
          <a:p>
            <a:pPr marL="285750" indent="-285750">
              <a:buFont typeface="Arial" panose="020B0604020202020204" pitchFamily="34" charset="0"/>
              <a:buChar char="•"/>
            </a:pPr>
            <a:r>
              <a:rPr lang="en-US" sz="2000" dirty="0"/>
              <a:t>Print each element to the console.</a:t>
            </a:r>
          </a:p>
        </p:txBody>
      </p:sp>
      <p:sp>
        <p:nvSpPr>
          <p:cNvPr id="8" name="TextBox 7">
            <a:extLst>
              <a:ext uri="{FF2B5EF4-FFF2-40B4-BE49-F238E27FC236}">
                <a16:creationId xmlns:a16="http://schemas.microsoft.com/office/drawing/2014/main" id="{CC405F12-1EE4-5B62-E707-0AB9523C11D9}"/>
              </a:ext>
            </a:extLst>
          </p:cNvPr>
          <p:cNvSpPr txBox="1"/>
          <p:nvPr/>
        </p:nvSpPr>
        <p:spPr>
          <a:xfrm>
            <a:off x="5216322" y="4637729"/>
            <a:ext cx="3927678" cy="1631216"/>
          </a:xfrm>
          <a:prstGeom prst="rect">
            <a:avLst/>
          </a:prstGeom>
          <a:solidFill>
            <a:schemeClr val="bg2">
              <a:lumMod val="90000"/>
            </a:schemeClr>
          </a:solidFill>
        </p:spPr>
        <p:txBody>
          <a:bodyPr wrap="none" rtlCol="0">
            <a:spAutoFit/>
          </a:bodyPr>
          <a:lstStyle/>
          <a:p>
            <a:pPr marL="342900" indent="-342900">
              <a:buAutoNum type="arabicPeriod"/>
            </a:pPr>
            <a:r>
              <a:rPr lang="en-US" sz="2000" dirty="0"/>
              <a:t>Declare Int Array : int[] x ;</a:t>
            </a:r>
          </a:p>
          <a:p>
            <a:pPr marL="342900" indent="-342900">
              <a:buAutoNum type="arabicPeriod"/>
            </a:pPr>
            <a:r>
              <a:rPr lang="en-US" sz="2000" dirty="0"/>
              <a:t>Allocate memory: x = new int[5];</a:t>
            </a:r>
          </a:p>
          <a:p>
            <a:pPr marL="342900" indent="-342900">
              <a:buAutoNum type="arabicPeriod"/>
            </a:pPr>
            <a:r>
              <a:rPr lang="en-US" sz="2000" dirty="0"/>
              <a:t>Initialize Array:</a:t>
            </a:r>
          </a:p>
          <a:p>
            <a:pPr marL="800100" lvl="1" indent="-342900">
              <a:buFont typeface="Arial" panose="020B0604020202020204" pitchFamily="34" charset="0"/>
              <a:buChar char="•"/>
            </a:pPr>
            <a:r>
              <a:rPr lang="en-US" sz="2000" dirty="0"/>
              <a:t>for (int </a:t>
            </a:r>
            <a:r>
              <a:rPr lang="en-US" sz="2000" dirty="0" err="1"/>
              <a:t>i</a:t>
            </a:r>
            <a:r>
              <a:rPr lang="en-US" sz="2000" dirty="0"/>
              <a:t>=0; </a:t>
            </a:r>
            <a:r>
              <a:rPr lang="en-US" sz="2000" dirty="0" err="1"/>
              <a:t>i</a:t>
            </a:r>
            <a:r>
              <a:rPr lang="en-US" sz="2000" dirty="0"/>
              <a:t>&lt;</a:t>
            </a:r>
            <a:r>
              <a:rPr lang="en-US" sz="2000" dirty="0" err="1"/>
              <a:t>x.length;i</a:t>
            </a:r>
            <a:r>
              <a:rPr lang="en-US" sz="2000" dirty="0"/>
              <a:t>++)</a:t>
            </a:r>
          </a:p>
          <a:p>
            <a:pPr marL="800100" lvl="1" indent="-342900">
              <a:buFont typeface="Arial" panose="020B0604020202020204" pitchFamily="34" charset="0"/>
              <a:buChar char="•"/>
            </a:pPr>
            <a:r>
              <a:rPr lang="en-US" sz="2000" dirty="0"/>
              <a:t>X[</a:t>
            </a:r>
            <a:r>
              <a:rPr lang="en-US" sz="2000" dirty="0" err="1"/>
              <a:t>i</a:t>
            </a:r>
            <a:r>
              <a:rPr lang="en-US" sz="2000" dirty="0"/>
              <a:t>]= </a:t>
            </a:r>
            <a:r>
              <a:rPr lang="en-US" sz="2000" dirty="0" err="1"/>
              <a:t>i</a:t>
            </a:r>
            <a:r>
              <a:rPr lang="en-US" sz="2000" dirty="0"/>
              <a:t>+ 1;</a:t>
            </a:r>
          </a:p>
        </p:txBody>
      </p:sp>
      <p:sp>
        <p:nvSpPr>
          <p:cNvPr id="3" name="TextBox 2">
            <a:extLst>
              <a:ext uri="{FF2B5EF4-FFF2-40B4-BE49-F238E27FC236}">
                <a16:creationId xmlns:a16="http://schemas.microsoft.com/office/drawing/2014/main" id="{44A904DF-2EB3-90BE-7690-47A1ECB462A6}"/>
              </a:ext>
            </a:extLst>
          </p:cNvPr>
          <p:cNvSpPr txBox="1"/>
          <p:nvPr/>
        </p:nvSpPr>
        <p:spPr>
          <a:xfrm>
            <a:off x="358588" y="5629835"/>
            <a:ext cx="4453591" cy="369332"/>
          </a:xfrm>
          <a:prstGeom prst="rect">
            <a:avLst/>
          </a:prstGeom>
          <a:noFill/>
        </p:spPr>
        <p:txBody>
          <a:bodyPr wrap="none" rtlCol="0">
            <a:spAutoFit/>
          </a:bodyPr>
          <a:lstStyle/>
          <a:p>
            <a:r>
              <a:rPr lang="en-US" dirty="0" err="1"/>
              <a:t>mportantYears</a:t>
            </a:r>
            <a:r>
              <a:rPr lang="en-US" dirty="0"/>
              <a:t> = new int[] {800, 1066, 1492,};</a:t>
            </a:r>
          </a:p>
        </p:txBody>
      </p:sp>
    </p:spTree>
    <p:extLst>
      <p:ext uri="{BB962C8B-B14F-4D97-AF65-F5344CB8AC3E}">
        <p14:creationId xmlns:p14="http://schemas.microsoft.com/office/powerpoint/2010/main" val="2226209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3A2E16-207F-9D89-ED28-A9F15A0003D5}"/>
              </a:ext>
            </a:extLst>
          </p:cNvPr>
          <p:cNvSpPr txBox="1"/>
          <p:nvPr/>
        </p:nvSpPr>
        <p:spPr>
          <a:xfrm>
            <a:off x="1068404" y="154004"/>
            <a:ext cx="5929059" cy="6401753"/>
          </a:xfrm>
          <a:prstGeom prst="rect">
            <a:avLst/>
          </a:prstGeom>
          <a:noFill/>
        </p:spPr>
        <p:txBody>
          <a:bodyPr wrap="none" rtlCol="0">
            <a:spAutoFit/>
          </a:bodyPr>
          <a:lstStyle/>
          <a:p>
            <a:r>
              <a:rPr lang="en-US" sz="2800" dirty="0"/>
              <a:t>class </a:t>
            </a:r>
            <a:r>
              <a:rPr lang="en-US" sz="2800" dirty="0" err="1"/>
              <a:t>IntArrayDemo</a:t>
            </a:r>
            <a:r>
              <a:rPr lang="en-US" sz="2800" dirty="0"/>
              <a:t> {</a:t>
            </a:r>
          </a:p>
          <a:p>
            <a:r>
              <a:rPr lang="en-US" sz="2800" dirty="0"/>
              <a:t>    public static void main(String[] </a:t>
            </a:r>
            <a:r>
              <a:rPr lang="en-US" sz="2800" dirty="0" err="1"/>
              <a:t>args</a:t>
            </a:r>
            <a:r>
              <a:rPr lang="en-US" sz="2800" dirty="0"/>
              <a:t>) {</a:t>
            </a:r>
          </a:p>
          <a:p>
            <a:endParaRPr lang="en-US" sz="2800" dirty="0"/>
          </a:p>
          <a:p>
            <a:r>
              <a:rPr lang="en-US" sz="2800" dirty="0"/>
              <a:t>        int[] x = new int[5];</a:t>
            </a:r>
          </a:p>
          <a:p>
            <a:endParaRPr lang="en-US" sz="2800" dirty="0"/>
          </a:p>
          <a:p>
            <a:r>
              <a:rPr lang="en-US" sz="2800" dirty="0"/>
              <a:t>        for (int </a:t>
            </a:r>
            <a:r>
              <a:rPr lang="en-US" sz="2800" dirty="0" err="1"/>
              <a:t>i</a:t>
            </a:r>
            <a:r>
              <a:rPr lang="en-US" sz="2800" dirty="0"/>
              <a:t> = 0; </a:t>
            </a:r>
            <a:r>
              <a:rPr lang="en-US" sz="2800" dirty="0" err="1"/>
              <a:t>i</a:t>
            </a:r>
            <a:r>
              <a:rPr lang="en-US" sz="2800" dirty="0"/>
              <a:t> &lt; </a:t>
            </a:r>
            <a:r>
              <a:rPr lang="en-US" sz="2800" dirty="0" err="1"/>
              <a:t>x.length</a:t>
            </a:r>
            <a:r>
              <a:rPr lang="en-US" sz="2800" dirty="0"/>
              <a:t>; </a:t>
            </a:r>
            <a:r>
              <a:rPr lang="en-US" sz="2800" dirty="0" err="1"/>
              <a:t>i</a:t>
            </a:r>
            <a:r>
              <a:rPr lang="en-US" sz="2800" dirty="0"/>
              <a:t>++) {</a:t>
            </a:r>
          </a:p>
          <a:p>
            <a:r>
              <a:rPr lang="en-US" sz="2800" dirty="0"/>
              <a:t>            x[</a:t>
            </a:r>
            <a:r>
              <a:rPr lang="en-US" sz="2800" dirty="0" err="1"/>
              <a:t>i</a:t>
            </a:r>
            <a:r>
              <a:rPr lang="en-US" sz="2800" dirty="0"/>
              <a:t>] = </a:t>
            </a:r>
            <a:r>
              <a:rPr lang="en-US" sz="2800" dirty="0" err="1"/>
              <a:t>i</a:t>
            </a:r>
            <a:r>
              <a:rPr lang="en-US" sz="2800" dirty="0"/>
              <a:t> + 1;</a:t>
            </a:r>
          </a:p>
          <a:p>
            <a:r>
              <a:rPr lang="en-US" sz="2800" dirty="0"/>
              <a:t>        }</a:t>
            </a:r>
          </a:p>
          <a:p>
            <a:endParaRPr lang="en-US" sz="2800" dirty="0"/>
          </a:p>
          <a:p>
            <a:r>
              <a:rPr lang="en-US" sz="2800" dirty="0"/>
              <a:t>        for (int </a:t>
            </a:r>
            <a:r>
              <a:rPr lang="en-US" sz="2800" dirty="0" err="1"/>
              <a:t>i</a:t>
            </a:r>
            <a:r>
              <a:rPr lang="en-US" sz="2800" dirty="0"/>
              <a:t> = 0; </a:t>
            </a:r>
            <a:r>
              <a:rPr lang="en-US" sz="2800" dirty="0" err="1"/>
              <a:t>i</a:t>
            </a:r>
            <a:r>
              <a:rPr lang="en-US" sz="2800" dirty="0"/>
              <a:t> &lt; </a:t>
            </a:r>
            <a:r>
              <a:rPr lang="en-US" sz="2800" dirty="0" err="1"/>
              <a:t>x.length</a:t>
            </a:r>
            <a:r>
              <a:rPr lang="en-US" sz="2800" dirty="0"/>
              <a:t>; </a:t>
            </a:r>
            <a:r>
              <a:rPr lang="en-US" sz="2800" dirty="0" err="1"/>
              <a:t>i</a:t>
            </a:r>
            <a:r>
              <a:rPr lang="en-US" sz="2800" dirty="0"/>
              <a:t>++) {</a:t>
            </a:r>
          </a:p>
          <a:p>
            <a:r>
              <a:rPr lang="en-US" sz="2800" dirty="0"/>
              <a:t>            </a:t>
            </a:r>
            <a:r>
              <a:rPr lang="en-US" sz="2800" dirty="0" err="1"/>
              <a:t>System.out.println</a:t>
            </a:r>
            <a:r>
              <a:rPr lang="en-US" sz="2800" dirty="0"/>
              <a:t>(x[</a:t>
            </a:r>
            <a:r>
              <a:rPr lang="en-US" sz="2800" dirty="0" err="1"/>
              <a:t>i</a:t>
            </a:r>
            <a:r>
              <a:rPr lang="en-US" sz="2800" dirty="0"/>
              <a:t>]);</a:t>
            </a:r>
          </a:p>
          <a:p>
            <a:r>
              <a:rPr lang="en-US" sz="2800" dirty="0"/>
              <a:t>        }</a:t>
            </a:r>
          </a:p>
          <a:p>
            <a:r>
              <a:rPr lang="en-US" sz="2800" dirty="0"/>
              <a:t>    }</a:t>
            </a:r>
          </a:p>
          <a:p>
            <a:r>
              <a:rPr lang="en-US" sz="2800" dirty="0"/>
              <a:t>}</a:t>
            </a:r>
          </a:p>
          <a:p>
            <a:endParaRPr lang="en-US" dirty="0"/>
          </a:p>
        </p:txBody>
      </p:sp>
    </p:spTree>
    <p:extLst>
      <p:ext uri="{BB962C8B-B14F-4D97-AF65-F5344CB8AC3E}">
        <p14:creationId xmlns:p14="http://schemas.microsoft.com/office/powerpoint/2010/main" val="3019293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47B628-1577-FEBC-DFFD-4FE30AAA0F50}"/>
              </a:ext>
            </a:extLst>
          </p:cNvPr>
          <p:cNvSpPr txBox="1"/>
          <p:nvPr/>
        </p:nvSpPr>
        <p:spPr>
          <a:xfrm>
            <a:off x="423333" y="0"/>
            <a:ext cx="6727676" cy="6186309"/>
          </a:xfrm>
          <a:prstGeom prst="rect">
            <a:avLst/>
          </a:prstGeom>
          <a:noFill/>
        </p:spPr>
        <p:txBody>
          <a:bodyPr wrap="none" rtlCol="0">
            <a:spAutoFit/>
          </a:bodyPr>
          <a:lstStyle/>
          <a:p>
            <a:endParaRPr lang="en-US" dirty="0"/>
          </a:p>
          <a:p>
            <a:r>
              <a:rPr lang="en-US" dirty="0">
                <a:highlight>
                  <a:srgbClr val="FFFF00"/>
                </a:highlight>
              </a:rPr>
              <a:t>Primitive Array Specific Points</a:t>
            </a:r>
          </a:p>
          <a:p>
            <a:endParaRPr lang="en-US" dirty="0"/>
          </a:p>
          <a:p>
            <a:r>
              <a:rPr lang="en-US" dirty="0"/>
              <a:t> Primitive arrays store actual values (int, double, char, etc.).</a:t>
            </a:r>
          </a:p>
          <a:p>
            <a:r>
              <a:rPr lang="en-US" dirty="0"/>
              <a:t> Only one `new` operation is required.</a:t>
            </a:r>
          </a:p>
          <a:p>
            <a:r>
              <a:rPr lang="en-US" dirty="0"/>
              <a:t> Default values:</a:t>
            </a:r>
          </a:p>
          <a:p>
            <a:endParaRPr lang="en-US" dirty="0"/>
          </a:p>
          <a:p>
            <a:r>
              <a:rPr lang="en-US" dirty="0"/>
              <a:t>   `int` → `0`</a:t>
            </a:r>
          </a:p>
          <a:p>
            <a:r>
              <a:rPr lang="en-US" dirty="0"/>
              <a:t>   `double` → `0.0`</a:t>
            </a:r>
          </a:p>
          <a:p>
            <a:r>
              <a:rPr lang="en-US" dirty="0"/>
              <a:t>   `</a:t>
            </a:r>
            <a:r>
              <a:rPr lang="en-US" dirty="0" err="1"/>
              <a:t>boolean</a:t>
            </a:r>
            <a:r>
              <a:rPr lang="en-US" dirty="0"/>
              <a:t>` → `false`</a:t>
            </a:r>
          </a:p>
          <a:p>
            <a:endParaRPr lang="en-US" dirty="0"/>
          </a:p>
          <a:p>
            <a:r>
              <a:rPr lang="en-US" dirty="0"/>
              <a:t> </a:t>
            </a:r>
            <a:r>
              <a:rPr lang="en-US" dirty="0" err="1"/>
              <a:t>e.g</a:t>
            </a:r>
            <a:r>
              <a:rPr lang="en-US" dirty="0"/>
              <a:t> int[] a = new int[3];</a:t>
            </a:r>
          </a:p>
          <a:p>
            <a:endParaRPr lang="en-US" dirty="0"/>
          </a:p>
          <a:p>
            <a:r>
              <a:rPr lang="en-US" dirty="0">
                <a:highlight>
                  <a:srgbClr val="FFFF00"/>
                </a:highlight>
              </a:rPr>
              <a:t> Object Array Specific Points</a:t>
            </a:r>
          </a:p>
          <a:p>
            <a:r>
              <a:rPr lang="en-US" dirty="0"/>
              <a:t> Object arrays store references to objects, not the objects themselves.</a:t>
            </a:r>
          </a:p>
          <a:p>
            <a:r>
              <a:rPr lang="en-US" dirty="0"/>
              <a:t> Creating an object array does not create objects automatically.</a:t>
            </a:r>
          </a:p>
          <a:p>
            <a:r>
              <a:rPr lang="en-US" dirty="0"/>
              <a:t> Each object must be created separately using `new`.</a:t>
            </a:r>
          </a:p>
          <a:p>
            <a:r>
              <a:rPr lang="en-US" dirty="0"/>
              <a:t> Default value for object references is `null`.</a:t>
            </a:r>
          </a:p>
          <a:p>
            <a:r>
              <a:rPr lang="en-US" dirty="0"/>
              <a:t> Accessing an object before creation causes `</a:t>
            </a:r>
            <a:r>
              <a:rPr lang="en-US" dirty="0" err="1"/>
              <a:t>NullPointerException</a:t>
            </a:r>
            <a:r>
              <a:rPr lang="en-US" dirty="0"/>
              <a:t>`.</a:t>
            </a:r>
          </a:p>
          <a:p>
            <a:r>
              <a:rPr lang="en-US" dirty="0"/>
              <a:t> Example:</a:t>
            </a:r>
          </a:p>
          <a:p>
            <a:r>
              <a:rPr lang="en-US" dirty="0"/>
              <a:t>Book[] books = new Book[2];</a:t>
            </a:r>
          </a:p>
          <a:p>
            <a:r>
              <a:rPr lang="en-US" dirty="0"/>
              <a:t>books[0] = new Book();</a:t>
            </a:r>
          </a:p>
        </p:txBody>
      </p:sp>
    </p:spTree>
    <p:extLst>
      <p:ext uri="{BB962C8B-B14F-4D97-AF65-F5344CB8AC3E}">
        <p14:creationId xmlns:p14="http://schemas.microsoft.com/office/powerpoint/2010/main" val="79987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A44BA4-516A-8829-6BC9-89E9D42EA46B}"/>
              </a:ext>
            </a:extLst>
          </p:cNvPr>
          <p:cNvSpPr txBox="1"/>
          <p:nvPr/>
        </p:nvSpPr>
        <p:spPr>
          <a:xfrm>
            <a:off x="206829" y="97971"/>
            <a:ext cx="4920342" cy="4247317"/>
          </a:xfrm>
          <a:prstGeom prst="rect">
            <a:avLst/>
          </a:prstGeom>
          <a:solidFill>
            <a:schemeClr val="tx2">
              <a:lumMod val="20000"/>
              <a:lumOff val="80000"/>
            </a:schemeClr>
          </a:solidFill>
        </p:spPr>
        <p:txBody>
          <a:bodyPr wrap="square" rtlCol="0">
            <a:spAutoFit/>
          </a:bodyPr>
          <a:lstStyle/>
          <a:p>
            <a:r>
              <a:rPr lang="en-US" dirty="0"/>
              <a:t>class  </a:t>
            </a:r>
            <a:r>
              <a:rPr lang="en-US" dirty="0" err="1"/>
              <a:t>TestArray</a:t>
            </a:r>
            <a:r>
              <a:rPr lang="en-US" dirty="0"/>
              <a:t>{</a:t>
            </a:r>
            <a:br>
              <a:rPr lang="en-US" dirty="0"/>
            </a:br>
            <a:r>
              <a:rPr lang="en-US" dirty="0"/>
              <a:t>    String title ;</a:t>
            </a:r>
            <a:br>
              <a:rPr lang="en-US" dirty="0"/>
            </a:br>
            <a:r>
              <a:rPr lang="en-US" dirty="0"/>
              <a:t>public static void main(String </a:t>
            </a:r>
            <a:r>
              <a:rPr lang="en-US" dirty="0" err="1"/>
              <a:t>args</a:t>
            </a:r>
            <a:r>
              <a:rPr lang="en-US" dirty="0"/>
              <a:t>[]) {</a:t>
            </a:r>
            <a:br>
              <a:rPr lang="en-US" dirty="0"/>
            </a:br>
            <a:r>
              <a:rPr lang="en-US" dirty="0"/>
              <a:t>    </a:t>
            </a:r>
            <a:r>
              <a:rPr lang="en-US" dirty="0" err="1"/>
              <a:t>TestArray</a:t>
            </a:r>
            <a:r>
              <a:rPr lang="en-US" dirty="0"/>
              <a:t>[] </a:t>
            </a:r>
            <a:r>
              <a:rPr lang="en-US" dirty="0" err="1"/>
              <a:t>myBooks</a:t>
            </a:r>
            <a:r>
              <a:rPr lang="en-US" dirty="0"/>
              <a:t> = new </a:t>
            </a:r>
            <a:r>
              <a:rPr lang="en-US" dirty="0" err="1"/>
              <a:t>TestArray</a:t>
            </a:r>
            <a:r>
              <a:rPr lang="en-US" dirty="0"/>
              <a:t>[2];</a:t>
            </a:r>
            <a:br>
              <a:rPr lang="en-US" dirty="0"/>
            </a:br>
            <a:r>
              <a:rPr lang="en-US" dirty="0"/>
              <a:t>    int x = 0;</a:t>
            </a:r>
            <a:br>
              <a:rPr lang="en-US" dirty="0"/>
            </a:br>
            <a:r>
              <a:rPr lang="en-US" dirty="0"/>
              <a:t>    </a:t>
            </a:r>
            <a:r>
              <a:rPr lang="en-US" dirty="0" err="1"/>
              <a:t>myBooks</a:t>
            </a:r>
            <a:r>
              <a:rPr lang="en-US" dirty="0"/>
              <a:t>[0].title = "b1";</a:t>
            </a:r>
            <a:br>
              <a:rPr lang="en-US" dirty="0"/>
            </a:br>
            <a:r>
              <a:rPr lang="en-US" dirty="0"/>
              <a:t>    </a:t>
            </a:r>
            <a:r>
              <a:rPr lang="en-US" dirty="0" err="1"/>
              <a:t>myBooks</a:t>
            </a:r>
            <a:r>
              <a:rPr lang="en-US" dirty="0"/>
              <a:t>[1].title = "b2";</a:t>
            </a:r>
            <a:br>
              <a:rPr lang="en-US" dirty="0"/>
            </a:br>
            <a:br>
              <a:rPr lang="en-US" dirty="0"/>
            </a:br>
            <a:r>
              <a:rPr lang="en-US" dirty="0"/>
              <a:t>    while(x &lt; 2) {</a:t>
            </a:r>
            <a:br>
              <a:rPr lang="en-US" dirty="0"/>
            </a:br>
            <a:r>
              <a:rPr lang="en-US" dirty="0"/>
              <a:t>        </a:t>
            </a:r>
            <a:r>
              <a:rPr lang="en-US" dirty="0" err="1"/>
              <a:t>System.</a:t>
            </a:r>
            <a:r>
              <a:rPr lang="en-US" i="1" dirty="0" err="1"/>
              <a:t>out</a:t>
            </a:r>
            <a:r>
              <a:rPr lang="en-US" dirty="0" err="1"/>
              <a:t>.println</a:t>
            </a:r>
            <a:r>
              <a:rPr lang="en-US" dirty="0"/>
              <a:t>( "book "+ </a:t>
            </a:r>
            <a:r>
              <a:rPr lang="en-US" dirty="0" err="1"/>
              <a:t>myBooks</a:t>
            </a:r>
            <a:r>
              <a:rPr lang="en-US" dirty="0"/>
              <a:t>[x].title );</a:t>
            </a:r>
            <a:br>
              <a:rPr lang="en-US" dirty="0"/>
            </a:br>
            <a:r>
              <a:rPr lang="en-US" dirty="0"/>
              <a:t>        x++ ;</a:t>
            </a:r>
            <a:br>
              <a:rPr lang="en-US" dirty="0"/>
            </a:br>
            <a:r>
              <a:rPr lang="en-US" dirty="0"/>
              <a:t>    }</a:t>
            </a:r>
            <a:br>
              <a:rPr lang="en-US" dirty="0"/>
            </a:br>
            <a:r>
              <a:rPr lang="en-US" dirty="0"/>
              <a:t>}</a:t>
            </a:r>
          </a:p>
          <a:p>
            <a:endParaRPr lang="en-US" dirty="0"/>
          </a:p>
        </p:txBody>
      </p:sp>
      <p:sp>
        <p:nvSpPr>
          <p:cNvPr id="4" name="TextBox 3">
            <a:extLst>
              <a:ext uri="{FF2B5EF4-FFF2-40B4-BE49-F238E27FC236}">
                <a16:creationId xmlns:a16="http://schemas.microsoft.com/office/drawing/2014/main" id="{86E393F2-794B-1AD8-F901-742266581AC0}"/>
              </a:ext>
            </a:extLst>
          </p:cNvPr>
          <p:cNvSpPr txBox="1"/>
          <p:nvPr/>
        </p:nvSpPr>
        <p:spPr>
          <a:xfrm>
            <a:off x="4572000" y="2906486"/>
            <a:ext cx="4681794" cy="4524315"/>
          </a:xfrm>
          <a:prstGeom prst="rect">
            <a:avLst/>
          </a:prstGeom>
          <a:solidFill>
            <a:schemeClr val="bg1">
              <a:lumMod val="85000"/>
            </a:schemeClr>
          </a:solidFill>
        </p:spPr>
        <p:txBody>
          <a:bodyPr wrap="none" rtlCol="0">
            <a:spAutoFit/>
          </a:bodyPr>
          <a:lstStyle/>
          <a:p>
            <a:r>
              <a:rPr lang="en-US" dirty="0"/>
              <a:t>class Hobbits {</a:t>
            </a:r>
            <a:br>
              <a:rPr lang="en-US" dirty="0"/>
            </a:br>
            <a:r>
              <a:rPr lang="en-US" dirty="0"/>
              <a:t>    String name ;</a:t>
            </a:r>
            <a:br>
              <a:rPr lang="en-US" dirty="0"/>
            </a:br>
            <a:r>
              <a:rPr lang="en-US" dirty="0"/>
              <a:t>    public static void main(String </a:t>
            </a:r>
            <a:r>
              <a:rPr lang="en-US" dirty="0" err="1"/>
              <a:t>args</a:t>
            </a:r>
            <a:r>
              <a:rPr lang="en-US" dirty="0"/>
              <a:t>[]) {</a:t>
            </a:r>
            <a:br>
              <a:rPr lang="en-US" dirty="0"/>
            </a:br>
            <a:r>
              <a:rPr lang="en-US" dirty="0"/>
              <a:t>        Hobbits[] h = new Hobbits[2] ;</a:t>
            </a:r>
            <a:br>
              <a:rPr lang="en-US" dirty="0"/>
            </a:br>
            <a:r>
              <a:rPr lang="en-US" dirty="0"/>
              <a:t>        int z = 0 ;</a:t>
            </a:r>
            <a:br>
              <a:rPr lang="en-US" dirty="0"/>
            </a:br>
            <a:r>
              <a:rPr lang="en-US" dirty="0"/>
              <a:t>        while (z &lt; 2) {</a:t>
            </a:r>
            <a:br>
              <a:rPr lang="en-US" dirty="0"/>
            </a:br>
            <a:r>
              <a:rPr lang="en-US" dirty="0"/>
              <a:t>            z = z + 1 ;</a:t>
            </a:r>
            <a:br>
              <a:rPr lang="en-US" dirty="0"/>
            </a:br>
            <a:r>
              <a:rPr lang="en-US" dirty="0"/>
              <a:t>            h[z] = new Hobbits() ;</a:t>
            </a:r>
            <a:br>
              <a:rPr lang="en-US" dirty="0"/>
            </a:br>
            <a:r>
              <a:rPr lang="en-US" dirty="0"/>
              <a:t>            h[z].name ="H" + z ;</a:t>
            </a:r>
            <a:br>
              <a:rPr lang="en-US" dirty="0"/>
            </a:br>
            <a:r>
              <a:rPr lang="en-US" dirty="0"/>
              <a:t>            </a:t>
            </a:r>
            <a:r>
              <a:rPr lang="en-US" dirty="0" err="1"/>
              <a:t>System.</a:t>
            </a:r>
            <a:r>
              <a:rPr lang="en-US" i="1" dirty="0" err="1"/>
              <a:t>out</a:t>
            </a:r>
            <a:r>
              <a:rPr lang="en-US" dirty="0" err="1"/>
              <a:t>.println</a:t>
            </a:r>
            <a:r>
              <a:rPr lang="en-US" dirty="0"/>
              <a:t>("name "+ h[z].name );</a:t>
            </a:r>
            <a:br>
              <a:rPr lang="en-US" dirty="0"/>
            </a:br>
            <a:r>
              <a:rPr lang="en-US" dirty="0"/>
              <a:t>            </a:t>
            </a:r>
            <a:br>
              <a:rPr lang="en-US" dirty="0"/>
            </a:br>
            <a:r>
              <a:rPr lang="en-US" dirty="0"/>
              <a:t>        }</a:t>
            </a:r>
            <a:br>
              <a:rPr lang="en-US" dirty="0"/>
            </a:br>
            <a:r>
              <a:rPr lang="en-US" dirty="0"/>
              <a:t>    }</a:t>
            </a:r>
            <a:br>
              <a:rPr lang="en-US" dirty="0"/>
            </a:br>
            <a:r>
              <a:rPr lang="en-US" dirty="0"/>
              <a:t>}</a:t>
            </a:r>
          </a:p>
          <a:p>
            <a:r>
              <a:rPr lang="en-US" dirty="0"/>
              <a:t>	</a:t>
            </a:r>
          </a:p>
          <a:p>
            <a:endParaRPr lang="en-US" dirty="0"/>
          </a:p>
        </p:txBody>
      </p:sp>
    </p:spTree>
    <p:extLst>
      <p:ext uri="{BB962C8B-B14F-4D97-AF65-F5344CB8AC3E}">
        <p14:creationId xmlns:p14="http://schemas.microsoft.com/office/powerpoint/2010/main" val="1568714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FDF291A-2CC6-D26F-EC52-939AF5C7F52C}"/>
              </a:ext>
            </a:extLst>
          </p:cNvPr>
          <p:cNvGraphicFramePr>
            <a:graphicFrameLocks noGrp="1"/>
          </p:cNvGraphicFramePr>
          <p:nvPr>
            <p:extLst>
              <p:ext uri="{D42A27DB-BD31-4B8C-83A1-F6EECF244321}">
                <p14:modId xmlns:p14="http://schemas.microsoft.com/office/powerpoint/2010/main" val="3401649631"/>
              </p:ext>
            </p:extLst>
          </p:nvPr>
        </p:nvGraphicFramePr>
        <p:xfrm>
          <a:off x="402152" y="507527"/>
          <a:ext cx="8741848" cy="5241060"/>
        </p:xfrm>
        <a:graphic>
          <a:graphicData uri="http://schemas.openxmlformats.org/drawingml/2006/table">
            <a:tbl>
              <a:tblPr/>
              <a:tblGrid>
                <a:gridCol w="2185462">
                  <a:extLst>
                    <a:ext uri="{9D8B030D-6E8A-4147-A177-3AD203B41FA5}">
                      <a16:colId xmlns:a16="http://schemas.microsoft.com/office/drawing/2014/main" val="2637893448"/>
                    </a:ext>
                  </a:extLst>
                </a:gridCol>
                <a:gridCol w="2185462">
                  <a:extLst>
                    <a:ext uri="{9D8B030D-6E8A-4147-A177-3AD203B41FA5}">
                      <a16:colId xmlns:a16="http://schemas.microsoft.com/office/drawing/2014/main" val="2797560414"/>
                    </a:ext>
                  </a:extLst>
                </a:gridCol>
                <a:gridCol w="2185462">
                  <a:extLst>
                    <a:ext uri="{9D8B030D-6E8A-4147-A177-3AD203B41FA5}">
                      <a16:colId xmlns:a16="http://schemas.microsoft.com/office/drawing/2014/main" val="2894250892"/>
                    </a:ext>
                  </a:extLst>
                </a:gridCol>
                <a:gridCol w="2185462">
                  <a:extLst>
                    <a:ext uri="{9D8B030D-6E8A-4147-A177-3AD203B41FA5}">
                      <a16:colId xmlns:a16="http://schemas.microsoft.com/office/drawing/2014/main" val="2871039294"/>
                    </a:ext>
                  </a:extLst>
                </a:gridCol>
              </a:tblGrid>
              <a:tr h="212986">
                <a:tc>
                  <a:txBody>
                    <a:bodyPr/>
                    <a:lstStyle/>
                    <a:p>
                      <a:pPr algn="ctr">
                        <a:buNone/>
                      </a:pPr>
                      <a:r>
                        <a:rPr lang="en-US" sz="1800"/>
                        <a:t>Feature</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t>Java</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t>C</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Python</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8742862"/>
                  </a:ext>
                </a:extLst>
              </a:tr>
              <a:tr h="372726">
                <a:tc>
                  <a:txBody>
                    <a:bodyPr/>
                    <a:lstStyle/>
                    <a:p>
                      <a:pPr>
                        <a:buNone/>
                      </a:pPr>
                      <a:r>
                        <a:rPr lang="en-US" sz="1800"/>
                        <a:t>Nature of Array</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Array is an </a:t>
                      </a:r>
                      <a:r>
                        <a:rPr lang="en-US" sz="1800" b="1"/>
                        <a:t>object</a:t>
                      </a:r>
                      <a:endParaRPr lang="en-US" sz="1800"/>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Array is </a:t>
                      </a:r>
                      <a:r>
                        <a:rPr lang="en-US" sz="1800" b="1"/>
                        <a:t>not an object</a:t>
                      </a:r>
                      <a:endParaRPr lang="en-US" sz="1800"/>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List is an </a:t>
                      </a:r>
                      <a:r>
                        <a:rPr lang="en-US" sz="1800" b="1"/>
                        <a:t>object</a:t>
                      </a:r>
                      <a:endParaRPr lang="en-US" sz="1800"/>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571922"/>
                  </a:ext>
                </a:extLst>
              </a:tr>
              <a:tr h="372726">
                <a:tc>
                  <a:txBody>
                    <a:bodyPr/>
                    <a:lstStyle/>
                    <a:p>
                      <a:pPr>
                        <a:buNone/>
                      </a:pPr>
                      <a:r>
                        <a:rPr lang="en-US" sz="1800" dirty="0"/>
                        <a:t>Size</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dirty="0"/>
                        <a:t>Fixed</a:t>
                      </a:r>
                      <a:r>
                        <a:rPr lang="en-US" sz="1800" dirty="0"/>
                        <a:t> at creation</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a:t>Fixed</a:t>
                      </a:r>
                      <a:r>
                        <a:rPr lang="en-US" sz="1800"/>
                        <a:t> at declaration</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a:t>Dynamic</a:t>
                      </a:r>
                      <a:r>
                        <a:rPr lang="en-US" sz="1800"/>
                        <a:t> (can grow/shrink)</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607580"/>
                  </a:ext>
                </a:extLst>
              </a:tr>
              <a:tr h="532466">
                <a:tc>
                  <a:txBody>
                    <a:bodyPr/>
                    <a:lstStyle/>
                    <a:p>
                      <a:pPr>
                        <a:buNone/>
                      </a:pPr>
                      <a:r>
                        <a:rPr lang="en-US" sz="1800"/>
                        <a:t>Memory Allocation</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Heap memory using </a:t>
                      </a:r>
                      <a:r>
                        <a:rPr lang="en-US" sz="1800">
                          <a:latin typeface="Courier New" panose="02070309020205020404" pitchFamily="49" charset="0"/>
                        </a:rPr>
                        <a:t>new</a:t>
                      </a:r>
                      <a:endParaRPr lang="en-US" sz="1800"/>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Stack / static memory</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Heap memory (managed by interpreter)</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661564"/>
                  </a:ext>
                </a:extLst>
              </a:tr>
              <a:tr h="212986">
                <a:tc>
                  <a:txBody>
                    <a:bodyPr/>
                    <a:lstStyle/>
                    <a:p>
                      <a:pPr>
                        <a:buNone/>
                      </a:pPr>
                      <a:r>
                        <a:rPr lang="en-US" sz="1800"/>
                        <a:t>Bounds Checking</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a:t>Yes</a:t>
                      </a:r>
                      <a:r>
                        <a:rPr lang="en-US" sz="1800"/>
                        <a:t> (runtime check)</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a:t>No</a:t>
                      </a:r>
                      <a:endParaRPr lang="en-US" sz="1800"/>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dirty="0"/>
                        <a:t>Yes</a:t>
                      </a:r>
                      <a:endParaRPr lang="en-US" sz="1800" dirty="0"/>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2731403"/>
                  </a:ext>
                </a:extLst>
              </a:tr>
              <a:tr h="532466">
                <a:tc>
                  <a:txBody>
                    <a:bodyPr/>
                    <a:lstStyle/>
                    <a:p>
                      <a:pPr>
                        <a:buNone/>
                      </a:pPr>
                      <a:r>
                        <a:rPr lang="en-US" sz="1800"/>
                        <a:t>Error on Invalid Index</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ourier New" panose="02070309020205020404" pitchFamily="49" charset="0"/>
                        </a:rPr>
                        <a:t>ArrayIndexOutOfBoundsException</a:t>
                      </a:r>
                      <a:endParaRPr lang="en-US" sz="1800"/>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Undefined behavior</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ourier New" panose="02070309020205020404" pitchFamily="49" charset="0"/>
                        </a:rPr>
                        <a:t>IndexError</a:t>
                      </a:r>
                      <a:endParaRPr lang="en-US" sz="1800"/>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8251781"/>
                  </a:ext>
                </a:extLst>
              </a:tr>
              <a:tr h="372726">
                <a:tc>
                  <a:txBody>
                    <a:bodyPr/>
                    <a:lstStyle/>
                    <a:p>
                      <a:pPr>
                        <a:buNone/>
                      </a:pPr>
                      <a:r>
                        <a:rPr lang="en-US" sz="1800"/>
                        <a:t>Default Initialization</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Yes (0, false, null)</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No (garbage values)</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Yes (</a:t>
                      </a:r>
                      <a:r>
                        <a:rPr lang="en-US" sz="1800">
                          <a:latin typeface="Courier New" panose="02070309020205020404" pitchFamily="49" charset="0"/>
                        </a:rPr>
                        <a:t>None</a:t>
                      </a:r>
                      <a:r>
                        <a:rPr lang="en-US" sz="1800"/>
                        <a:t> for new slots)</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2270094"/>
                  </a:ext>
                </a:extLst>
              </a:tr>
              <a:tr h="372726">
                <a:tc>
                  <a:txBody>
                    <a:bodyPr/>
                    <a:lstStyle/>
                    <a:p>
                      <a:pPr>
                        <a:buNone/>
                      </a:pPr>
                      <a:r>
                        <a:rPr lang="en-US" sz="1800"/>
                        <a:t>Syntax to Create</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ourier New" panose="02070309020205020404" pitchFamily="49" charset="0"/>
                        </a:rPr>
                        <a:t>int[] a = new int[5];</a:t>
                      </a:r>
                      <a:endParaRPr lang="en-US" sz="1800"/>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ourier New" panose="02070309020205020404" pitchFamily="49" charset="0"/>
                        </a:rPr>
                        <a:t>int a[5];</a:t>
                      </a:r>
                      <a:endParaRPr lang="en-US" sz="1800"/>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ourier New" panose="02070309020205020404" pitchFamily="49" charset="0"/>
                        </a:rPr>
                        <a:t>a = [1,2,3]</a:t>
                      </a:r>
                      <a:endParaRPr lang="en-US" sz="1800"/>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9523323"/>
                  </a:ext>
                </a:extLst>
              </a:tr>
              <a:tr h="212986">
                <a:tc>
                  <a:txBody>
                    <a:bodyPr/>
                    <a:lstStyle/>
                    <a:p>
                      <a:pPr>
                        <a:buNone/>
                      </a:pPr>
                      <a:r>
                        <a:rPr lang="en-US" sz="1800"/>
                        <a:t>Size Access</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ourier New" panose="02070309020205020404" pitchFamily="49" charset="0"/>
                        </a:rPr>
                        <a:t>a.length</a:t>
                      </a:r>
                      <a:endParaRPr lang="en-US" sz="1800"/>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Manual tracking</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ourier New" panose="02070309020205020404" pitchFamily="49" charset="0"/>
                        </a:rPr>
                        <a:t>len(a)</a:t>
                      </a:r>
                      <a:endParaRPr lang="en-US" sz="1800"/>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1177570"/>
                  </a:ext>
                </a:extLst>
              </a:tr>
              <a:tr h="372726">
                <a:tc>
                  <a:txBody>
                    <a:bodyPr/>
                    <a:lstStyle/>
                    <a:p>
                      <a:pPr>
                        <a:buNone/>
                      </a:pPr>
                      <a:r>
                        <a:rPr lang="en-US" sz="1800"/>
                        <a:t>Object Arrays</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Supported (stores references)</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Not supported</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Built-in support</a:t>
                      </a:r>
                    </a:p>
                  </a:txBody>
                  <a:tcPr marL="53247" marR="53247"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5495601"/>
                  </a:ext>
                </a:extLst>
              </a:tr>
            </a:tbl>
          </a:graphicData>
        </a:graphic>
      </p:graphicFrame>
    </p:spTree>
    <p:extLst>
      <p:ext uri="{BB962C8B-B14F-4D97-AF65-F5344CB8AC3E}">
        <p14:creationId xmlns:p14="http://schemas.microsoft.com/office/powerpoint/2010/main" val="2307494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D5529B-FF60-806E-3BF3-FD3DE6F6F57E}"/>
              </a:ext>
            </a:extLst>
          </p:cNvPr>
          <p:cNvSpPr txBox="1"/>
          <p:nvPr/>
        </p:nvSpPr>
        <p:spPr>
          <a:xfrm>
            <a:off x="0" y="117693"/>
            <a:ext cx="4389471" cy="1631216"/>
          </a:xfrm>
          <a:prstGeom prst="rect">
            <a:avLst/>
          </a:prstGeom>
          <a:solidFill>
            <a:schemeClr val="bg1">
              <a:lumMod val="95000"/>
            </a:schemeClr>
          </a:solidFill>
        </p:spPr>
        <p:txBody>
          <a:bodyPr wrap="none" rtlCol="0">
            <a:spAutoFit/>
          </a:bodyPr>
          <a:lstStyle/>
          <a:p>
            <a:r>
              <a:rPr lang="en-US" sz="2000" dirty="0">
                <a:highlight>
                  <a:srgbClr val="FFFF00"/>
                </a:highlight>
              </a:rPr>
              <a:t>Program Requirements – Object Array</a:t>
            </a:r>
          </a:p>
          <a:p>
            <a:r>
              <a:rPr lang="en-US" sz="2000" dirty="0"/>
              <a:t>• Declares an object array</a:t>
            </a:r>
          </a:p>
          <a:p>
            <a:r>
              <a:rPr lang="en-US" sz="2000" dirty="0"/>
              <a:t>• Allocates memory for the array (size 5)</a:t>
            </a:r>
          </a:p>
          <a:p>
            <a:r>
              <a:rPr lang="en-US" sz="2000" dirty="0"/>
              <a:t>• Creates objects inside the array</a:t>
            </a:r>
          </a:p>
          <a:p>
            <a:r>
              <a:rPr lang="en-US" sz="2000" dirty="0"/>
              <a:t>• Prints all object values using a loop</a:t>
            </a:r>
          </a:p>
        </p:txBody>
      </p:sp>
      <p:sp>
        <p:nvSpPr>
          <p:cNvPr id="3" name="TextBox 2">
            <a:extLst>
              <a:ext uri="{FF2B5EF4-FFF2-40B4-BE49-F238E27FC236}">
                <a16:creationId xmlns:a16="http://schemas.microsoft.com/office/drawing/2014/main" id="{93E3E7A3-BCFA-1E53-C182-7B7E7B98EA27}"/>
              </a:ext>
            </a:extLst>
          </p:cNvPr>
          <p:cNvSpPr txBox="1"/>
          <p:nvPr/>
        </p:nvSpPr>
        <p:spPr>
          <a:xfrm>
            <a:off x="67377" y="2242035"/>
            <a:ext cx="4500656" cy="3447098"/>
          </a:xfrm>
          <a:prstGeom prst="rect">
            <a:avLst/>
          </a:prstGeom>
          <a:solidFill>
            <a:schemeClr val="bg2">
              <a:lumMod val="90000"/>
            </a:schemeClr>
          </a:solidFill>
        </p:spPr>
        <p:txBody>
          <a:bodyPr wrap="none" rtlCol="0">
            <a:spAutoFit/>
          </a:bodyPr>
          <a:lstStyle/>
          <a:p>
            <a:r>
              <a:rPr lang="en-US" sz="2000" dirty="0">
                <a:highlight>
                  <a:srgbClr val="FFFF00"/>
                </a:highlight>
              </a:rPr>
              <a:t>Low Level Design – Object Array</a:t>
            </a:r>
          </a:p>
          <a:p>
            <a:r>
              <a:rPr lang="en-US" sz="2000" dirty="0"/>
              <a:t>• Create a class named Book</a:t>
            </a:r>
          </a:p>
          <a:p>
            <a:r>
              <a:rPr lang="en-US" sz="2000" dirty="0"/>
              <a:t>• Add one data member title</a:t>
            </a:r>
          </a:p>
          <a:p>
            <a:r>
              <a:rPr lang="en-US" sz="2000" dirty="0"/>
              <a:t>• Create a class named </a:t>
            </a:r>
            <a:r>
              <a:rPr lang="en-US" sz="2000" dirty="0" err="1"/>
              <a:t>ObjectArrayDemo</a:t>
            </a:r>
            <a:endParaRPr lang="en-US" sz="2000" dirty="0"/>
          </a:p>
          <a:p>
            <a:r>
              <a:rPr lang="en-US" sz="2000" dirty="0"/>
              <a:t>• Define the main method</a:t>
            </a:r>
          </a:p>
          <a:p>
            <a:r>
              <a:rPr lang="en-US" sz="2000" dirty="0"/>
              <a:t>• Inside main, declare an object array</a:t>
            </a:r>
          </a:p>
          <a:p>
            <a:r>
              <a:rPr lang="en-US" sz="2000" dirty="0"/>
              <a:t>• Allocate memory for 5 objects</a:t>
            </a:r>
          </a:p>
          <a:p>
            <a:r>
              <a:rPr lang="en-US" sz="2000" dirty="0"/>
              <a:t>• Create objects using a loop</a:t>
            </a:r>
          </a:p>
          <a:p>
            <a:r>
              <a:rPr lang="en-US" sz="2000" dirty="0"/>
              <a:t>• Assign values to object fields</a:t>
            </a:r>
          </a:p>
          <a:p>
            <a:r>
              <a:rPr lang="en-US" sz="2000" dirty="0"/>
              <a:t>• Use a loop to print object values</a:t>
            </a:r>
          </a:p>
          <a:p>
            <a:endParaRPr lang="en-US" sz="2000" dirty="0"/>
          </a:p>
        </p:txBody>
      </p:sp>
      <p:sp>
        <p:nvSpPr>
          <p:cNvPr id="4" name="TextBox 3">
            <a:extLst>
              <a:ext uri="{FF2B5EF4-FFF2-40B4-BE49-F238E27FC236}">
                <a16:creationId xmlns:a16="http://schemas.microsoft.com/office/drawing/2014/main" id="{FDF48571-ADF0-F31D-49A7-092AABB52ED5}"/>
              </a:ext>
            </a:extLst>
          </p:cNvPr>
          <p:cNvSpPr txBox="1"/>
          <p:nvPr/>
        </p:nvSpPr>
        <p:spPr>
          <a:xfrm>
            <a:off x="4882833" y="28069"/>
            <a:ext cx="4261167" cy="6801862"/>
          </a:xfrm>
          <a:prstGeom prst="rect">
            <a:avLst/>
          </a:prstGeom>
          <a:solidFill>
            <a:schemeClr val="accent1">
              <a:lumMod val="20000"/>
              <a:lumOff val="80000"/>
            </a:schemeClr>
          </a:solidFill>
        </p:spPr>
        <p:txBody>
          <a:bodyPr wrap="none" rtlCol="0">
            <a:spAutoFit/>
          </a:bodyPr>
          <a:lstStyle/>
          <a:p>
            <a:r>
              <a:rPr lang="en-US" sz="2000" dirty="0">
                <a:highlight>
                  <a:srgbClr val="FFFF00"/>
                </a:highlight>
              </a:rPr>
              <a:t>Class Creation</a:t>
            </a:r>
          </a:p>
          <a:p>
            <a:r>
              <a:rPr lang="en-US" sz="2000" dirty="0"/>
              <a:t>class Book</a:t>
            </a:r>
          </a:p>
          <a:p>
            <a:r>
              <a:rPr lang="en-US" sz="2000" dirty="0"/>
              <a:t>{</a:t>
            </a:r>
          </a:p>
          <a:p>
            <a:r>
              <a:rPr lang="en-US" sz="2000" dirty="0"/>
              <a:t>    String title;</a:t>
            </a:r>
          </a:p>
          <a:p>
            <a:r>
              <a:rPr lang="en-US" sz="2000" dirty="0"/>
              <a:t>}</a:t>
            </a:r>
          </a:p>
          <a:p>
            <a:r>
              <a:rPr lang="en-US" sz="2000" dirty="0">
                <a:highlight>
                  <a:srgbClr val="FFFF00"/>
                </a:highlight>
              </a:rPr>
              <a:t> Declare Object Array</a:t>
            </a:r>
          </a:p>
          <a:p>
            <a:r>
              <a:rPr lang="en-US" sz="2000" dirty="0"/>
              <a:t>Book[] books;</a:t>
            </a:r>
          </a:p>
          <a:p>
            <a:r>
              <a:rPr lang="en-US" sz="2000" dirty="0">
                <a:highlight>
                  <a:srgbClr val="FFFF00"/>
                </a:highlight>
              </a:rPr>
              <a:t> Allocate Memory</a:t>
            </a:r>
          </a:p>
          <a:p>
            <a:r>
              <a:rPr lang="en-US" sz="2000" dirty="0"/>
              <a:t>books = new Book[5];</a:t>
            </a:r>
          </a:p>
          <a:p>
            <a:endParaRPr lang="en-US" sz="2000" dirty="0"/>
          </a:p>
          <a:p>
            <a:r>
              <a:rPr lang="en-US" sz="2000" dirty="0"/>
              <a:t> </a:t>
            </a:r>
            <a:r>
              <a:rPr lang="en-US" sz="2000" dirty="0">
                <a:highlight>
                  <a:srgbClr val="FFFF00"/>
                </a:highlight>
              </a:rPr>
              <a:t>Initialize Array, Assign and Read Values</a:t>
            </a:r>
          </a:p>
          <a:p>
            <a:r>
              <a:rPr lang="en-US" sz="2000" dirty="0"/>
              <a:t>for (int </a:t>
            </a:r>
            <a:r>
              <a:rPr lang="en-US" sz="2000" dirty="0" err="1"/>
              <a:t>i</a:t>
            </a:r>
            <a:r>
              <a:rPr lang="en-US" sz="2000" dirty="0"/>
              <a:t> = 0; </a:t>
            </a:r>
            <a:r>
              <a:rPr lang="en-US" sz="2000" dirty="0" err="1"/>
              <a:t>i</a:t>
            </a:r>
            <a:r>
              <a:rPr lang="en-US" sz="2000" dirty="0"/>
              <a:t> &lt; </a:t>
            </a:r>
            <a:r>
              <a:rPr lang="en-US" sz="2000" dirty="0" err="1"/>
              <a:t>books.length</a:t>
            </a:r>
            <a:r>
              <a:rPr lang="en-US" sz="2000" dirty="0"/>
              <a:t>; </a:t>
            </a:r>
            <a:r>
              <a:rPr lang="en-US" sz="2000" dirty="0" err="1"/>
              <a:t>i</a:t>
            </a:r>
            <a:r>
              <a:rPr lang="en-US" sz="2000" dirty="0"/>
              <a:t>++)</a:t>
            </a:r>
          </a:p>
          <a:p>
            <a:r>
              <a:rPr lang="en-US" sz="2000" dirty="0"/>
              <a:t>{</a:t>
            </a:r>
          </a:p>
          <a:p>
            <a:r>
              <a:rPr lang="en-US" sz="2000" dirty="0"/>
              <a:t>    books[</a:t>
            </a:r>
            <a:r>
              <a:rPr lang="en-US" sz="2000" dirty="0" err="1"/>
              <a:t>i</a:t>
            </a:r>
            <a:r>
              <a:rPr lang="en-US" sz="2000" dirty="0"/>
              <a:t>] = new Book();</a:t>
            </a:r>
          </a:p>
          <a:p>
            <a:r>
              <a:rPr lang="en-US" sz="2000" dirty="0"/>
              <a:t>    books[</a:t>
            </a:r>
            <a:r>
              <a:rPr lang="en-US" sz="2000" dirty="0" err="1"/>
              <a:t>i</a:t>
            </a:r>
            <a:r>
              <a:rPr lang="en-US" sz="2000" dirty="0"/>
              <a:t>].title = "Book " + (</a:t>
            </a:r>
            <a:r>
              <a:rPr lang="en-US" sz="2000" dirty="0" err="1"/>
              <a:t>i</a:t>
            </a:r>
            <a:r>
              <a:rPr lang="en-US" sz="2000" dirty="0"/>
              <a:t> + 1);</a:t>
            </a:r>
          </a:p>
          <a:p>
            <a:r>
              <a:rPr lang="en-US" sz="2000" dirty="0"/>
              <a:t>}</a:t>
            </a:r>
          </a:p>
          <a:p>
            <a:endParaRPr lang="en-US" sz="2000" dirty="0"/>
          </a:p>
          <a:p>
            <a:r>
              <a:rPr lang="en-US" sz="2000" dirty="0"/>
              <a:t>for (int </a:t>
            </a:r>
            <a:r>
              <a:rPr lang="en-US" sz="2000" dirty="0" err="1"/>
              <a:t>i</a:t>
            </a:r>
            <a:r>
              <a:rPr lang="en-US" sz="2000" dirty="0"/>
              <a:t> = 0; </a:t>
            </a:r>
            <a:r>
              <a:rPr lang="en-US" sz="2000" dirty="0" err="1"/>
              <a:t>i</a:t>
            </a:r>
            <a:r>
              <a:rPr lang="en-US" sz="2000" dirty="0"/>
              <a:t> &lt; </a:t>
            </a:r>
            <a:r>
              <a:rPr lang="en-US" sz="2000" dirty="0" err="1"/>
              <a:t>books.length</a:t>
            </a:r>
            <a:r>
              <a:rPr lang="en-US" sz="2000" dirty="0"/>
              <a:t>; </a:t>
            </a:r>
            <a:r>
              <a:rPr lang="en-US" sz="2000" dirty="0" err="1"/>
              <a:t>i</a:t>
            </a:r>
            <a:r>
              <a:rPr lang="en-US" sz="2000" dirty="0"/>
              <a:t>++)</a:t>
            </a:r>
          </a:p>
          <a:p>
            <a:r>
              <a:rPr lang="en-US" sz="2000" dirty="0"/>
              <a:t>{</a:t>
            </a:r>
          </a:p>
          <a:p>
            <a:r>
              <a:rPr lang="en-US" sz="2000" dirty="0"/>
              <a:t>    </a:t>
            </a:r>
            <a:r>
              <a:rPr lang="en-US" sz="2000" dirty="0" err="1"/>
              <a:t>System.out.println</a:t>
            </a:r>
            <a:r>
              <a:rPr lang="en-US" sz="2000" dirty="0"/>
              <a:t>(books[</a:t>
            </a:r>
            <a:r>
              <a:rPr lang="en-US" sz="2000" dirty="0" err="1"/>
              <a:t>i</a:t>
            </a:r>
            <a:r>
              <a:rPr lang="en-US" sz="2000" dirty="0"/>
              <a:t>].title);</a:t>
            </a:r>
          </a:p>
          <a:p>
            <a:r>
              <a:rPr lang="en-US" sz="2000" dirty="0"/>
              <a:t>}</a:t>
            </a:r>
          </a:p>
        </p:txBody>
      </p:sp>
    </p:spTree>
    <p:extLst>
      <p:ext uri="{BB962C8B-B14F-4D97-AF65-F5344CB8AC3E}">
        <p14:creationId xmlns:p14="http://schemas.microsoft.com/office/powerpoint/2010/main" val="32177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A23FE4-78B4-DA5D-5F00-3B78C4C78612}"/>
              </a:ext>
            </a:extLst>
          </p:cNvPr>
          <p:cNvSpPr txBox="1"/>
          <p:nvPr/>
        </p:nvSpPr>
        <p:spPr>
          <a:xfrm>
            <a:off x="1181100" y="190500"/>
            <a:ext cx="5155386" cy="7109639"/>
          </a:xfrm>
          <a:prstGeom prst="rect">
            <a:avLst/>
          </a:prstGeom>
          <a:noFill/>
        </p:spPr>
        <p:txBody>
          <a:bodyPr wrap="none" rtlCol="0">
            <a:spAutoFit/>
          </a:bodyPr>
          <a:lstStyle/>
          <a:p>
            <a:r>
              <a:rPr lang="en-US" sz="2400" dirty="0"/>
              <a:t>class Book {</a:t>
            </a:r>
          </a:p>
          <a:p>
            <a:r>
              <a:rPr lang="en-US" sz="2400" dirty="0"/>
              <a:t>    String title;</a:t>
            </a:r>
          </a:p>
          <a:p>
            <a:r>
              <a:rPr lang="en-US" sz="2400" dirty="0"/>
              <a:t>}</a:t>
            </a:r>
          </a:p>
          <a:p>
            <a:r>
              <a:rPr lang="en-US" sz="2400" dirty="0"/>
              <a:t>class </a:t>
            </a:r>
            <a:r>
              <a:rPr lang="en-US" sz="2400" dirty="0" err="1"/>
              <a:t>ObjectArrayDemo</a:t>
            </a:r>
            <a:r>
              <a:rPr lang="en-US" sz="2400" dirty="0"/>
              <a:t> {</a:t>
            </a:r>
          </a:p>
          <a:p>
            <a:r>
              <a:rPr lang="en-US" sz="2400" dirty="0"/>
              <a:t>    public static void main(String[] </a:t>
            </a:r>
            <a:r>
              <a:rPr lang="en-US" sz="2400" dirty="0" err="1"/>
              <a:t>args</a:t>
            </a:r>
            <a:r>
              <a:rPr lang="en-US" sz="2400" dirty="0"/>
              <a:t>) {</a:t>
            </a:r>
          </a:p>
          <a:p>
            <a:r>
              <a:rPr lang="en-US" sz="2400" dirty="0"/>
              <a:t>        Book[] books;</a:t>
            </a:r>
          </a:p>
          <a:p>
            <a:r>
              <a:rPr lang="en-US" sz="2400" dirty="0"/>
              <a:t>        books = new Book[5];</a:t>
            </a:r>
          </a:p>
          <a:p>
            <a:endParaRPr lang="en-US" sz="2400" dirty="0"/>
          </a:p>
          <a:p>
            <a:r>
              <a:rPr lang="en-US" sz="2400" dirty="0"/>
              <a:t>        for (int </a:t>
            </a:r>
            <a:r>
              <a:rPr lang="en-US" sz="2400" dirty="0" err="1"/>
              <a:t>i</a:t>
            </a:r>
            <a:r>
              <a:rPr lang="en-US" sz="2400" dirty="0"/>
              <a:t> = 0; </a:t>
            </a:r>
            <a:r>
              <a:rPr lang="en-US" sz="2400" dirty="0" err="1"/>
              <a:t>i</a:t>
            </a:r>
            <a:r>
              <a:rPr lang="en-US" sz="2400" dirty="0"/>
              <a:t> &lt; </a:t>
            </a:r>
            <a:r>
              <a:rPr lang="en-US" sz="2400" dirty="0" err="1"/>
              <a:t>books.length</a:t>
            </a:r>
            <a:r>
              <a:rPr lang="en-US" sz="2400" dirty="0"/>
              <a:t>; </a:t>
            </a:r>
            <a:r>
              <a:rPr lang="en-US" sz="2400" dirty="0" err="1"/>
              <a:t>i</a:t>
            </a:r>
            <a:r>
              <a:rPr lang="en-US" sz="2400" dirty="0"/>
              <a:t>++) {</a:t>
            </a:r>
          </a:p>
          <a:p>
            <a:r>
              <a:rPr lang="en-US" sz="2400" dirty="0"/>
              <a:t>            books[</a:t>
            </a:r>
            <a:r>
              <a:rPr lang="en-US" sz="2400" dirty="0" err="1"/>
              <a:t>i</a:t>
            </a:r>
            <a:r>
              <a:rPr lang="en-US" sz="2400" dirty="0"/>
              <a:t>] = new Book();</a:t>
            </a:r>
          </a:p>
          <a:p>
            <a:r>
              <a:rPr lang="en-US" sz="2400" dirty="0"/>
              <a:t>            books[</a:t>
            </a:r>
            <a:r>
              <a:rPr lang="en-US" sz="2400" dirty="0" err="1"/>
              <a:t>i</a:t>
            </a:r>
            <a:r>
              <a:rPr lang="en-US" sz="2400" dirty="0"/>
              <a:t>].title = "Book " + (</a:t>
            </a:r>
            <a:r>
              <a:rPr lang="en-US" sz="2400" dirty="0" err="1"/>
              <a:t>i</a:t>
            </a:r>
            <a:r>
              <a:rPr lang="en-US" sz="2400" dirty="0"/>
              <a:t> + 1);</a:t>
            </a:r>
          </a:p>
          <a:p>
            <a:r>
              <a:rPr lang="en-US" sz="2400" dirty="0"/>
              <a:t>        }</a:t>
            </a:r>
          </a:p>
          <a:p>
            <a:endParaRPr lang="en-US" sz="2400" dirty="0"/>
          </a:p>
          <a:p>
            <a:r>
              <a:rPr lang="en-US" sz="2400" dirty="0"/>
              <a:t>        for (int </a:t>
            </a:r>
            <a:r>
              <a:rPr lang="en-US" sz="2400" dirty="0" err="1"/>
              <a:t>i</a:t>
            </a:r>
            <a:r>
              <a:rPr lang="en-US" sz="2400" dirty="0"/>
              <a:t> = 0; </a:t>
            </a:r>
            <a:r>
              <a:rPr lang="en-US" sz="2400" dirty="0" err="1"/>
              <a:t>i</a:t>
            </a:r>
            <a:r>
              <a:rPr lang="en-US" sz="2400" dirty="0"/>
              <a:t> &lt; </a:t>
            </a:r>
            <a:r>
              <a:rPr lang="en-US" sz="2400" dirty="0" err="1"/>
              <a:t>books.length</a:t>
            </a:r>
            <a:r>
              <a:rPr lang="en-US" sz="2400" dirty="0"/>
              <a:t>; </a:t>
            </a:r>
            <a:r>
              <a:rPr lang="en-US" sz="2400" dirty="0" err="1"/>
              <a:t>i</a:t>
            </a:r>
            <a:r>
              <a:rPr lang="en-US" sz="2400" dirty="0"/>
              <a:t>++) {</a:t>
            </a:r>
          </a:p>
          <a:p>
            <a:r>
              <a:rPr lang="en-US" sz="2400" dirty="0"/>
              <a:t>            </a:t>
            </a:r>
            <a:r>
              <a:rPr lang="en-US" sz="2400" dirty="0" err="1"/>
              <a:t>System.out.println</a:t>
            </a:r>
            <a:r>
              <a:rPr lang="en-US" sz="2400" dirty="0"/>
              <a:t>(books[</a:t>
            </a:r>
            <a:r>
              <a:rPr lang="en-US" sz="2400" dirty="0" err="1"/>
              <a:t>i</a:t>
            </a:r>
            <a:r>
              <a:rPr lang="en-US" sz="2400" dirty="0"/>
              <a:t>].title);</a:t>
            </a:r>
          </a:p>
          <a:p>
            <a:r>
              <a:rPr lang="en-US" sz="2400" dirty="0"/>
              <a:t>        }</a:t>
            </a:r>
          </a:p>
          <a:p>
            <a:r>
              <a:rPr lang="en-US" sz="2400" dirty="0"/>
              <a:t>    }</a:t>
            </a:r>
          </a:p>
          <a:p>
            <a:r>
              <a:rPr lang="en-US" sz="2400" dirty="0"/>
              <a:t>}</a:t>
            </a:r>
          </a:p>
          <a:p>
            <a:endParaRPr lang="en-US" sz="2400" dirty="0"/>
          </a:p>
        </p:txBody>
      </p:sp>
    </p:spTree>
    <p:extLst>
      <p:ext uri="{BB962C8B-B14F-4D97-AF65-F5344CB8AC3E}">
        <p14:creationId xmlns:p14="http://schemas.microsoft.com/office/powerpoint/2010/main" val="504583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F4A36C-3EBE-F29D-0E25-926EAD44802C}"/>
              </a:ext>
            </a:extLst>
          </p:cNvPr>
          <p:cNvPicPr>
            <a:picLocks noChangeAspect="1"/>
          </p:cNvPicPr>
          <p:nvPr/>
        </p:nvPicPr>
        <p:blipFill>
          <a:blip r:embed="rId2"/>
          <a:stretch>
            <a:fillRect/>
          </a:stretch>
        </p:blipFill>
        <p:spPr>
          <a:xfrm>
            <a:off x="0" y="0"/>
            <a:ext cx="9144000" cy="2881067"/>
          </a:xfrm>
          <a:prstGeom prst="rect">
            <a:avLst/>
          </a:prstGeom>
        </p:spPr>
      </p:pic>
      <p:pic>
        <p:nvPicPr>
          <p:cNvPr id="5" name="Picture 4">
            <a:extLst>
              <a:ext uri="{FF2B5EF4-FFF2-40B4-BE49-F238E27FC236}">
                <a16:creationId xmlns:a16="http://schemas.microsoft.com/office/drawing/2014/main" id="{44CCFA93-9801-2A13-0AA7-F8796C7FBB42}"/>
              </a:ext>
            </a:extLst>
          </p:cNvPr>
          <p:cNvPicPr>
            <a:picLocks noChangeAspect="1"/>
          </p:cNvPicPr>
          <p:nvPr/>
        </p:nvPicPr>
        <p:blipFill>
          <a:blip r:embed="rId3"/>
          <a:stretch>
            <a:fillRect/>
          </a:stretch>
        </p:blipFill>
        <p:spPr>
          <a:xfrm>
            <a:off x="0" y="3293675"/>
            <a:ext cx="9144000" cy="2556650"/>
          </a:xfrm>
          <a:prstGeom prst="rect">
            <a:avLst/>
          </a:prstGeom>
        </p:spPr>
      </p:pic>
    </p:spTree>
    <p:extLst>
      <p:ext uri="{BB962C8B-B14F-4D97-AF65-F5344CB8AC3E}">
        <p14:creationId xmlns:p14="http://schemas.microsoft.com/office/powerpoint/2010/main" val="1607084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E56EF0-C79B-C197-FEF5-A6E2AB15A0DF}"/>
              </a:ext>
            </a:extLst>
          </p:cNvPr>
          <p:cNvSpPr txBox="1"/>
          <p:nvPr/>
        </p:nvSpPr>
        <p:spPr>
          <a:xfrm>
            <a:off x="1850571" y="1005396"/>
            <a:ext cx="3691010" cy="3693319"/>
          </a:xfrm>
          <a:prstGeom prst="rect">
            <a:avLst/>
          </a:prstGeom>
          <a:noFill/>
        </p:spPr>
        <p:txBody>
          <a:bodyPr wrap="none" rtlCol="0">
            <a:spAutoFit/>
          </a:bodyPr>
          <a:lstStyle/>
          <a:p>
            <a:r>
              <a:rPr lang="en-US" dirty="0"/>
              <a:t>Abstract class Bike{</a:t>
            </a:r>
          </a:p>
          <a:p>
            <a:r>
              <a:rPr lang="en-US" dirty="0"/>
              <a:t>Abstract void run();</a:t>
            </a:r>
          </a:p>
          <a:p>
            <a:r>
              <a:rPr lang="en-US" dirty="0"/>
              <a:t>}</a:t>
            </a:r>
          </a:p>
          <a:p>
            <a:endParaRPr lang="en-US" dirty="0"/>
          </a:p>
          <a:p>
            <a:r>
              <a:rPr lang="en-US" dirty="0"/>
              <a:t>Class Honda extends Bike{</a:t>
            </a:r>
          </a:p>
          <a:p>
            <a:r>
              <a:rPr lang="en-US" dirty="0"/>
              <a:t>	void run() {</a:t>
            </a:r>
          </a:p>
          <a:p>
            <a:r>
              <a:rPr lang="en-US" dirty="0"/>
              <a:t>	</a:t>
            </a:r>
            <a:r>
              <a:rPr lang="en-US" dirty="0" err="1"/>
              <a:t>System.out.println</a:t>
            </a:r>
            <a:r>
              <a:rPr lang="en-US" dirty="0"/>
              <a:t>(“run safely”);</a:t>
            </a:r>
          </a:p>
          <a:p>
            <a:r>
              <a:rPr lang="en-US" dirty="0"/>
              <a:t>}</a:t>
            </a:r>
          </a:p>
          <a:p>
            <a:endParaRPr lang="en-US" dirty="0"/>
          </a:p>
          <a:p>
            <a:r>
              <a:rPr lang="en-US" dirty="0"/>
              <a:t>Public static void main() {</a:t>
            </a:r>
          </a:p>
          <a:p>
            <a:r>
              <a:rPr lang="en-US" dirty="0"/>
              <a:t>	Bike obj = new Honda() ;</a:t>
            </a:r>
          </a:p>
          <a:p>
            <a:r>
              <a:rPr lang="en-US" dirty="0"/>
              <a:t>	</a:t>
            </a:r>
            <a:r>
              <a:rPr lang="en-US" dirty="0" err="1"/>
              <a:t>obj.run</a:t>
            </a:r>
            <a:r>
              <a:rPr lang="en-US" dirty="0"/>
              <a:t>() ;</a:t>
            </a:r>
          </a:p>
          <a:p>
            <a:r>
              <a:rPr lang="en-US" dirty="0"/>
              <a:t>}</a:t>
            </a:r>
          </a:p>
        </p:txBody>
      </p:sp>
    </p:spTree>
    <p:extLst>
      <p:ext uri="{BB962C8B-B14F-4D97-AF65-F5344CB8AC3E}">
        <p14:creationId xmlns:p14="http://schemas.microsoft.com/office/powerpoint/2010/main" val="29909439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10448</TotalTime>
  <Words>1607</Words>
  <Application>Microsoft Office PowerPoint</Application>
  <PresentationFormat>On-screen Show (4:3)</PresentationFormat>
  <Paragraphs>226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Deepika Sachdev</dc:creator>
  <cp:keywords/>
  <dc:description>generated using python-pptx</dc:description>
  <cp:lastModifiedBy>Deepika Sachdev</cp:lastModifiedBy>
  <cp:revision>66</cp:revision>
  <dcterms:created xsi:type="dcterms:W3CDTF">2013-01-27T09:14:16Z</dcterms:created>
  <dcterms:modified xsi:type="dcterms:W3CDTF">2026-01-31T03:57:32Z</dcterms:modified>
  <cp:category/>
</cp:coreProperties>
</file>